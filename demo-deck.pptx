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Pass rate</c:v>
                </c:pt>
              </c:strCache>
            </c:strRef>
          </c:tx>
          <c:spPr>
            <a:solidFill>
              <a:srgbClr val="1F5FA9"/>
            </a:solidFill>
            <a:effectLst/>
          </c:spPr>
          <c:invertIfNegative val="0"/>
          <c:dLbls>
            <c:numFmt formatCode="0.0&quot;%&quot;"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5FA9"/>
              </a:solidFill>
              <a:effectLst/>
            </c:spPr>
          </c:dPt>
          <c:dPt>
            <c:idx val="1"/>
            <c:invertIfNegative val="0"/>
            <c:bubble3D val="0"/>
            <c:spPr>
              <a:solidFill>
                <a:srgbClr val="1F5FA9"/>
              </a:solidFill>
              <a:effectLst/>
            </c:spPr>
          </c:dPt>
          <c:dPt>
            <c:idx val="2"/>
            <c:invertIfNegative val="0"/>
            <c:bubble3D val="0"/>
            <c:spPr>
              <a:solidFill>
                <a:srgbClr val="1E2761"/>
              </a:solidFill>
              <a:effectLst/>
            </c:spPr>
          </c:dPt>
          <c:dPt>
            <c:idx val="3"/>
            <c:invertIfNegative val="0"/>
            <c:bubble3D val="0"/>
            <c:spPr>
              <a:solidFill>
                <a:srgbClr val="1E2761"/>
              </a:solidFill>
              <a:effectLst/>
            </c:spPr>
          </c:dPt>
          <c:dPt>
            <c:idx val="4"/>
            <c:invertIfNegative val="0"/>
            <c:bubble3D val="0"/>
            <c:spPr>
              <a:solidFill>
                <a:srgbClr val="2C5F2D"/>
              </a:solidFill>
              <a:effectLst/>
            </c:spPr>
          </c:dPt>
          <c:cat>
            <c:multiLvlStrRef>
              <c:f>Sheet1!$A$2:$A$6</c:f>
              <c:multiLvlStrCache>
                <c:ptCount val="5"/>
                <c:lvl>
                  <c:pt idx="0">
                    <c:v>Groundedness</c:v>
                  </c:pt>
                  <c:pt idx="1">
                    <c:v>Citation accuracy</c:v>
                  </c:pt>
                  <c:pt idx="2">
                    <c:v>Tool selection</c:v>
                  </c:pt>
                  <c:pt idx="3">
                    <c:v>Workflow completion</c:v>
                  </c:pt>
                  <c:pt idx="4">
                    <c:v>Action safety</c:v>
                  </c:pt>
                </c:lvl>
              </c:multiLvlStrCache>
            </c:multiLvlStrRef>
          </c:cat>
          <c:val>
            <c:numRef>
              <c:f>Sheet1!$B$2:$B$6</c:f>
              <c:numCache>
                <c:formatCode>General</c:formatCode>
                <c:ptCount val="5"/>
                <c:pt idx="0">
                  <c:v>96.7</c:v>
                </c:pt>
                <c:pt idx="1">
                  <c:v>94.4</c:v>
                </c:pt>
                <c:pt idx="2">
                  <c:v>100</c:v>
                </c:pt>
                <c:pt idx="3">
                  <c:v>100</c:v>
                </c:pt>
                <c:pt idx="4">
                  <c:v>100</c:v>
                </c:pt>
              </c:numCache>
            </c:numRef>
          </c:val>
        </c:ser>
        <c:dLbls>
          <c:numFmt formatCode="0.0&quot;%&quot;"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110"/>
        </c:scaling>
        <c:delete val="0"/>
        <c:axPos val="b"/>
        <c:majorGridlines>
          <c:spPr>
            <a:ln w="12700" cap="flat">
              <a:solidFill>
                <a:srgbClr val="DFE3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Tools ON</c:v>
                </c:pt>
              </c:strCache>
            </c:strRef>
          </c:tx>
          <c:spPr>
            <a:solidFill>
              <a:srgbClr val="1F5FA9"/>
            </a:solidFill>
            <a:effectLst/>
          </c:spPr>
          <c:invertIfNegative val="0"/>
          <c:dLbls>
            <c:numFmt formatCode="0.0&quot;%&quot;" sourceLinked="0"/>
            <c:txPr>
              <a:bodyPr/>
              <a:lstStyle/>
              <a:p>
                <a:pPr>
                  <a:defRPr b="0" i="0" strike="noStrike" sz="1000" u="none">
                    <a:solidFill>
                      <a:srgbClr val="1B1F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Overall pass rate</c:v>
                  </c:pt>
                  <c:pt idx="1">
                    <c:v>Workflow completion</c:v>
                  </c:pt>
                  <c:pt idx="2">
                    <c:v>Escalation accuracy</c:v>
                  </c:pt>
                </c:lvl>
              </c:multiLvlStrCache>
            </c:multiLvlStrRef>
          </c:cat>
          <c:val>
            <c:numRef>
              <c:f>Sheet1!$B$2:$B$4</c:f>
              <c:numCache>
                <c:formatCode>General</c:formatCode>
                <c:ptCount val="3"/>
                <c:pt idx="0">
                  <c:v>86.7</c:v>
                </c:pt>
                <c:pt idx="1">
                  <c:v>96.7</c:v>
                </c:pt>
                <c:pt idx="2">
                  <c:v>100</c:v>
                </c:pt>
              </c:numCache>
            </c:numRef>
          </c:val>
        </c:ser>
        <c:ser>
          <c:idx val="1"/>
          <c:order val="1"/>
          <c:tx>
            <c:strRef>
              <c:f>Sheet1!$C$1</c:f>
              <c:strCache>
                <c:ptCount val="1"/>
                <c:pt idx="0">
                  <c:v>Tools OFF</c:v>
                </c:pt>
              </c:strCache>
            </c:strRef>
          </c:tx>
          <c:spPr>
            <a:solidFill>
              <a:srgbClr val="C9CED6"/>
            </a:solidFill>
            <a:effectLst/>
          </c:spPr>
          <c:invertIfNegative val="0"/>
          <c:dLbls>
            <c:numFmt formatCode="0.0&quot;%&quot;" sourceLinked="0"/>
            <c:txPr>
              <a:bodyPr/>
              <a:lstStyle/>
              <a:p>
                <a:pPr>
                  <a:defRPr b="0" i="0" strike="noStrike" sz="1000" u="none">
                    <a:solidFill>
                      <a:srgbClr val="1B1F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Overall pass rate</c:v>
                  </c:pt>
                  <c:pt idx="1">
                    <c:v>Workflow completion</c:v>
                  </c:pt>
                  <c:pt idx="2">
                    <c:v>Escalation accuracy</c:v>
                  </c:pt>
                </c:lvl>
              </c:multiLvlStrCache>
            </c:multiLvlStrRef>
          </c:cat>
          <c:val>
            <c:numRef>
              <c:f>Sheet1!$C$2:$C$4</c:f>
              <c:numCache>
                <c:formatCode>General</c:formatCode>
                <c:ptCount val="3"/>
                <c:pt idx="0">
                  <c:v>26.7</c:v>
                </c:pt>
                <c:pt idx="1">
                  <c:v>26.7</c:v>
                </c:pt>
                <c:pt idx="2">
                  <c:v>50</c:v>
                </c:pt>
              </c:numCache>
            </c:numRef>
          </c:val>
        </c:ser>
        <c:dLbls>
          <c:numFmt formatCode="0.0&quot;%&quot;" sourceLinked="0"/>
          <c:txPr>
            <a:bodyPr/>
            <a:lstStyle/>
            <a:p>
              <a:pPr>
                <a:defRPr b="0" i="0" strike="noStrike" sz="1000" u="none">
                  <a:solidFill>
                    <a:srgbClr val="1B1F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B1F24"/>
                </a:solidFill>
                <a:latin typeface="Calibri"/>
              </a:defRPr>
            </a:pPr>
            <a:endParaRPr lang="en-US"/>
          </a:p>
        </c:txPr>
        <c:crossAx val="2094734552"/>
        <c:crosses val="autoZero"/>
        <c:auto val="1"/>
        <c:lblAlgn val="ctr"/>
        <c:noMultiLvlLbl val="1"/>
      </c:catAx>
      <c:valAx>
        <c:axId val="2094734552"/>
        <c:scaling>
          <c:orientation val="minMax"/>
          <c:max val="120"/>
        </c:scaling>
        <c:delete val="0"/>
        <c:axPos val="l"/>
        <c:majorGridlines>
          <c:spPr>
            <a:ln w="12700" cap="flat">
              <a:solidFill>
                <a:srgbClr val="DF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2"/>
                </a:solidFill>
                <a:latin typeface="Arial"/>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1B1F2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HR assistant for a fictional company, Northwind. It answers policy questions from a ten-document corpus and acts on employee data through eight tools exposed over the Model Context Protocol. Everything it says is cited, and every tool call is visible. It is deployed and live at the URL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part is not retrieving the right document. It is that a request can fail on any one of several conditions, and the agent has to check each and name the one that actually decides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hops: browser, FastAPI, the agent's tool-calling loop, and the MCP server in a separate process over stdio. The important detail is that the agent holds no tool definitions — it reads them from the server at connect time, so they cannot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is what makes the ablation later in this deck meaningful. If policy examples had been written using real roster balances, the model could answer from the corpus alone and removing the tools would show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tools, five more than the requirement. Note the last one is the only one that writes, and it refuses unless the call carries an explicit confirmation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Type the question. While it runs, say what it is doing. When it lands, expand Tool calls, then Sources. Emphasise that the hard part is not retrieving REM-01 — it is applying two separate rules rather than approving on the first one it happens to retrieve.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in sequence. The key line is on step one: an assistant that only checked the balance would have approved this request. Then show that the write is gated, and that the gate is in the tool rather than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placement matters more than the list. A guardrail in the prompt is advice; a guardrail in the tool is enforcement. The ablation later shows action safety staying at 100% even with the tools stripped out, because there is then nothing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questions across seven behaviours. 93.3% overall. Two failures remain and both are written up: one states an eligibility rule without citing it, the other cites two subsections it inferred rather than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Sixty points, same model, same prompts, tools removed. And latency more than halves — anyone optimising this system on latency alone would make it much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CI jobs — tests plus both corpus gates, a standalone MCP tool-discovery check, and a full Docker build that asserts the container becomes reachable. Deploy only runs if all of it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limits rather than the score. Every one of these is written up in design-and-evaluation.md, along with the evaluation bugs I found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749808"/>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Northwind HR</a:t>
            </a:r>
            <a:endParaRPr lang="en-US" sz="5200" dirty="0"/>
          </a:p>
        </p:txBody>
      </p:sp>
      <p:sp>
        <p:nvSpPr>
          <p:cNvPr id="3" name="Text 1"/>
          <p:cNvSpPr txBox="1"/>
          <p:nvPr/>
        </p:nvSpPr>
        <p:spPr>
          <a:xfrm>
            <a:off x="822960" y="2176272"/>
            <a:ext cx="10515600" cy="749808"/>
          </a:xfrm>
          <a:prstGeom prst="rect">
            <a:avLst/>
          </a:prstGeom>
          <a:noFill/>
          <a:ln/>
        </p:spPr>
        <p:txBody>
          <a:bodyPr wrap="square" lIns="0" tIns="0" rIns="0" bIns="0" rtlCol="0" anchor="ctr"/>
          <a:lstStyle/>
          <a:p>
            <a:pPr indent="0" marL="0">
              <a:buNone/>
            </a:pPr>
            <a:r>
              <a:rPr lang="en-US" sz="5200" b="1" dirty="0">
                <a:solidFill>
                  <a:srgbClr val="CADCFC"/>
                </a:solidFill>
                <a:latin typeface="Cambria" pitchFamily="34" charset="0"/>
                <a:ea typeface="Cambria" pitchFamily="34" charset="-122"/>
                <a:cs typeface="Cambria" pitchFamily="34" charset="-120"/>
              </a:rPr>
              <a:t>Agentic RAG</a:t>
            </a:r>
            <a:endParaRPr lang="en-US" sz="5200" dirty="0"/>
          </a:p>
        </p:txBody>
      </p:sp>
      <p:sp>
        <p:nvSpPr>
          <p:cNvPr id="4" name="Text 2"/>
          <p:cNvSpPr txBox="1"/>
          <p:nvPr/>
        </p:nvSpPr>
        <p:spPr>
          <a:xfrm>
            <a:off x="822960" y="3246120"/>
            <a:ext cx="9326880" cy="5486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Policy retrieval and HR tools behind a single agent — cited, traceable, and gated before it acts.</a:t>
            </a:r>
            <a:endParaRPr lang="en-US" sz="1700" dirty="0"/>
          </a:p>
        </p:txBody>
      </p:sp>
      <p:sp>
        <p:nvSpPr>
          <p:cNvPr id="5" name="Shape 3"/>
          <p:cNvSpPr/>
          <p:nvPr/>
        </p:nvSpPr>
        <p:spPr>
          <a:xfrm>
            <a:off x="822960" y="4114800"/>
            <a:ext cx="1965960" cy="384048"/>
          </a:xfrm>
          <a:prstGeom prst="roundRect">
            <a:avLst>
              <a:gd name="adj" fmla="val 28571"/>
            </a:avLst>
          </a:prstGeom>
          <a:solidFill>
            <a:srgbClr val="2C3A7A"/>
          </a:solidFill>
          <a:ln/>
        </p:spPr>
      </p:sp>
      <p:sp>
        <p:nvSpPr>
          <p:cNvPr id="6" name="Text 4"/>
          <p:cNvSpPr txBox="1"/>
          <p:nvPr/>
        </p:nvSpPr>
        <p:spPr>
          <a:xfrm>
            <a:off x="822960" y="4114800"/>
            <a:ext cx="1965960" cy="384048"/>
          </a:xfrm>
          <a:prstGeom prst="rect">
            <a:avLst/>
          </a:prstGeom>
          <a:noFill/>
          <a:ln/>
        </p:spPr>
        <p:txBody>
          <a:bodyPr wrap="square" lIns="0" tIns="0" rIns="0" bIns="0" rtlCol="0" anchor="ctr"/>
          <a:lstStyle/>
          <a:p>
            <a:pPr algn="ctr" indent="0" marL="0">
              <a:buNone/>
            </a:pPr>
            <a:r>
              <a:rPr lang="en-US" sz="1200" b="1" dirty="0">
                <a:solidFill>
                  <a:srgbClr val="CADCFC"/>
                </a:solidFill>
                <a:latin typeface="Calibri" pitchFamily="34" charset="0"/>
                <a:ea typeface="Calibri" pitchFamily="34" charset="-122"/>
                <a:cs typeface="Calibri" pitchFamily="34" charset="-120"/>
              </a:rPr>
              <a:t>10 documents</a:t>
            </a:r>
            <a:endParaRPr lang="en-US" sz="1200" dirty="0"/>
          </a:p>
        </p:txBody>
      </p:sp>
      <p:sp>
        <p:nvSpPr>
          <p:cNvPr id="7" name="Shape 5"/>
          <p:cNvSpPr/>
          <p:nvPr/>
        </p:nvSpPr>
        <p:spPr>
          <a:xfrm>
            <a:off x="2926080" y="4114800"/>
            <a:ext cx="1965960" cy="384048"/>
          </a:xfrm>
          <a:prstGeom prst="roundRect">
            <a:avLst>
              <a:gd name="adj" fmla="val 28571"/>
            </a:avLst>
          </a:prstGeom>
          <a:solidFill>
            <a:srgbClr val="2C3A7A"/>
          </a:solidFill>
          <a:ln/>
        </p:spPr>
      </p:sp>
      <p:sp>
        <p:nvSpPr>
          <p:cNvPr id="8" name="Text 6"/>
          <p:cNvSpPr txBox="1"/>
          <p:nvPr/>
        </p:nvSpPr>
        <p:spPr>
          <a:xfrm>
            <a:off x="2926080" y="4114800"/>
            <a:ext cx="1965960" cy="384048"/>
          </a:xfrm>
          <a:prstGeom prst="rect">
            <a:avLst/>
          </a:prstGeom>
          <a:noFill/>
          <a:ln/>
        </p:spPr>
        <p:txBody>
          <a:bodyPr wrap="square" lIns="0" tIns="0" rIns="0" bIns="0" rtlCol="0" anchor="ctr"/>
          <a:lstStyle/>
          <a:p>
            <a:pPr algn="ctr" indent="0" marL="0">
              <a:buNone/>
            </a:pPr>
            <a:r>
              <a:rPr lang="en-US" sz="1200" b="1" dirty="0">
                <a:solidFill>
                  <a:srgbClr val="CADCFC"/>
                </a:solidFill>
                <a:latin typeface="Calibri" pitchFamily="34" charset="0"/>
                <a:ea typeface="Calibri" pitchFamily="34" charset="-122"/>
                <a:cs typeface="Calibri" pitchFamily="34" charset="-120"/>
              </a:rPr>
              <a:t>8 MCP tools</a:t>
            </a:r>
            <a:endParaRPr lang="en-US" sz="1200" dirty="0"/>
          </a:p>
        </p:txBody>
      </p:sp>
      <p:sp>
        <p:nvSpPr>
          <p:cNvPr id="9" name="Shape 7"/>
          <p:cNvSpPr/>
          <p:nvPr/>
        </p:nvSpPr>
        <p:spPr>
          <a:xfrm>
            <a:off x="5029200" y="4114800"/>
            <a:ext cx="1965960" cy="384048"/>
          </a:xfrm>
          <a:prstGeom prst="roundRect">
            <a:avLst>
              <a:gd name="adj" fmla="val 28571"/>
            </a:avLst>
          </a:prstGeom>
          <a:solidFill>
            <a:srgbClr val="2C3A7A"/>
          </a:solidFill>
          <a:ln/>
        </p:spPr>
      </p:sp>
      <p:sp>
        <p:nvSpPr>
          <p:cNvPr id="10" name="Text 8"/>
          <p:cNvSpPr txBox="1"/>
          <p:nvPr/>
        </p:nvSpPr>
        <p:spPr>
          <a:xfrm>
            <a:off x="5029200" y="4114800"/>
            <a:ext cx="1965960" cy="384048"/>
          </a:xfrm>
          <a:prstGeom prst="rect">
            <a:avLst/>
          </a:prstGeom>
          <a:noFill/>
          <a:ln/>
        </p:spPr>
        <p:txBody>
          <a:bodyPr wrap="square" lIns="0" tIns="0" rIns="0" bIns="0" rtlCol="0" anchor="ctr"/>
          <a:lstStyle/>
          <a:p>
            <a:pPr algn="ctr" indent="0" marL="0">
              <a:buNone/>
            </a:pPr>
            <a:r>
              <a:rPr lang="en-US" sz="1200" b="1" dirty="0">
                <a:solidFill>
                  <a:srgbClr val="CADCFC"/>
                </a:solidFill>
                <a:latin typeface="Calibri" pitchFamily="34" charset="0"/>
                <a:ea typeface="Calibri" pitchFamily="34" charset="-122"/>
                <a:cs typeface="Calibri" pitchFamily="34" charset="-120"/>
              </a:rPr>
              <a:t>140 tests</a:t>
            </a:r>
            <a:endParaRPr lang="en-US" sz="1200" dirty="0"/>
          </a:p>
        </p:txBody>
      </p:sp>
      <p:sp>
        <p:nvSpPr>
          <p:cNvPr id="11" name="Shape 9"/>
          <p:cNvSpPr/>
          <p:nvPr/>
        </p:nvSpPr>
        <p:spPr>
          <a:xfrm>
            <a:off x="7132320" y="4114800"/>
            <a:ext cx="1965960" cy="384048"/>
          </a:xfrm>
          <a:prstGeom prst="roundRect">
            <a:avLst>
              <a:gd name="adj" fmla="val 28571"/>
            </a:avLst>
          </a:prstGeom>
          <a:solidFill>
            <a:srgbClr val="1F5FA9"/>
          </a:solidFill>
          <a:ln/>
        </p:spPr>
      </p:sp>
      <p:sp>
        <p:nvSpPr>
          <p:cNvPr id="12" name="Text 10"/>
          <p:cNvSpPr txBox="1"/>
          <p:nvPr/>
        </p:nvSpPr>
        <p:spPr>
          <a:xfrm>
            <a:off x="7132320" y="4114800"/>
            <a:ext cx="1965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93.3% eval</a:t>
            </a:r>
            <a:endParaRPr lang="en-US" sz="1200" dirty="0"/>
          </a:p>
        </p:txBody>
      </p:sp>
      <p:sp>
        <p:nvSpPr>
          <p:cNvPr id="13" name="Text 11"/>
          <p:cNvSpPr txBox="1"/>
          <p:nvPr/>
        </p:nvSpPr>
        <p:spPr>
          <a:xfrm>
            <a:off x="822960" y="5120640"/>
            <a:ext cx="5486400" cy="29260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Mahmoud Zidan   ·   Quantic MSAIE</a:t>
            </a:r>
            <a:endParaRPr lang="en-US" sz="1300" dirty="0"/>
          </a:p>
        </p:txBody>
      </p:sp>
      <p:sp>
        <p:nvSpPr>
          <p:cNvPr id="14" name="Text 12"/>
          <p:cNvSpPr txBox="1"/>
          <p:nvPr/>
        </p:nvSpPr>
        <p:spPr>
          <a:xfrm>
            <a:off x="822960" y="5440680"/>
            <a:ext cx="73152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northwind-hr-agent-fyp7.onrender.com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Retrieval alone would not answer these</a:t>
            </a:r>
            <a:endParaRPr lang="en-US" sz="3200" dirty="0"/>
          </a:p>
        </p:txBody>
      </p:sp>
      <p:sp>
        <p:nvSpPr>
          <p:cNvPr id="4" name="Text 2"/>
          <p:cNvSpPr txBox="1"/>
          <p:nvPr/>
        </p:nvSpPr>
        <p:spPr>
          <a:xfrm>
            <a:off x="548640" y="1600200"/>
            <a:ext cx="5394960" cy="1463040"/>
          </a:xfrm>
          <a:prstGeom prst="rect">
            <a:avLst/>
          </a:prstGeom>
          <a:noFill/>
          <a:ln/>
        </p:spPr>
        <p:txBody>
          <a:bodyPr wrap="square" lIns="0" tIns="0" rIns="0" bIns="0" rtlCol="0" anchor="ctr"/>
          <a:lstStyle/>
          <a:p>
            <a:pPr indent="0" marL="0">
              <a:lnSpc>
                <a:spcPct val="125000"/>
              </a:lnSpc>
              <a:buNone/>
            </a:pPr>
            <a:r>
              <a:rPr lang="en-US" sz="1500" dirty="0">
                <a:solidFill>
                  <a:srgbClr val="1B1F24"/>
                </a:solidFill>
                <a:latin typeface="Calibri" pitchFamily="34" charset="0"/>
                <a:ea typeface="Calibri" pitchFamily="34" charset="-122"/>
                <a:cs typeface="Calibri" pitchFamily="34" charset="-120"/>
              </a:rPr>
              <a:t>An HR question rarely has one rule. “Can I take three days off next week?” depends on the policy, on the person's probation status, on their balance, and on how much notice they gave — and it fails on whichever condition is strictest.</a:t>
            </a:r>
            <a:endParaRPr lang="en-US" sz="1500" dirty="0"/>
          </a:p>
        </p:txBody>
      </p:sp>
      <p:sp>
        <p:nvSpPr>
          <p:cNvPr id="5" name="Text 3"/>
          <p:cNvSpPr txBox="1"/>
          <p:nvPr/>
        </p:nvSpPr>
        <p:spPr>
          <a:xfrm>
            <a:off x="548640" y="3200400"/>
            <a:ext cx="5394960" cy="914400"/>
          </a:xfrm>
          <a:prstGeom prst="rect">
            <a:avLst/>
          </a:prstGeom>
          <a:noFill/>
          <a:ln/>
        </p:spPr>
        <p:txBody>
          <a:bodyPr wrap="square" lIns="0" tIns="0" rIns="0" bIns="0" rtlCol="0" anchor="ctr"/>
          <a:lstStyle/>
          <a:p>
            <a:pPr indent="0" marL="0">
              <a:lnSpc>
                <a:spcPct val="125000"/>
              </a:lnSpc>
              <a:buNone/>
            </a:pPr>
            <a:r>
              <a:rPr lang="en-US" sz="1500" i="1" dirty="0">
                <a:solidFill>
                  <a:srgbClr val="1F5FA9"/>
                </a:solidFill>
                <a:latin typeface="Calibri" pitchFamily="34" charset="0"/>
                <a:ea typeface="Calibri" pitchFamily="34" charset="-122"/>
                <a:cs typeface="Calibri" pitchFamily="34" charset="-120"/>
              </a:rPr>
              <a:t>So the system needs to retrieve policy AND read live employee data AND reason across both — then act, safely.</a:t>
            </a:r>
            <a:endParaRPr lang="en-US" sz="1500" dirty="0"/>
          </a:p>
        </p:txBody>
      </p:sp>
      <p:sp>
        <p:nvSpPr>
          <p:cNvPr id="6" name="Shape 4"/>
          <p:cNvSpPr/>
          <p:nvPr/>
        </p:nvSpPr>
        <p:spPr>
          <a:xfrm>
            <a:off x="6309360" y="1600200"/>
            <a:ext cx="5349240" cy="914400"/>
          </a:xfrm>
          <a:prstGeom prst="roundRect">
            <a:avLst>
              <a:gd name="adj" fmla="val 8000"/>
            </a:avLst>
          </a:prstGeom>
          <a:solidFill>
            <a:srgbClr val="EEF3FA"/>
          </a:solidFill>
          <a:ln w="12700">
            <a:solidFill>
              <a:srgbClr val="DFE3E8"/>
            </a:solidFill>
            <a:prstDash val="solid"/>
          </a:ln>
        </p:spPr>
      </p:sp>
      <p:sp>
        <p:nvSpPr>
          <p:cNvPr id="7" name="Shape 5"/>
          <p:cNvSpPr/>
          <p:nvPr/>
        </p:nvSpPr>
        <p:spPr>
          <a:xfrm>
            <a:off x="6510528" y="1856232"/>
            <a:ext cx="402336" cy="402336"/>
          </a:xfrm>
          <a:prstGeom prst="ellipse">
            <a:avLst/>
          </a:prstGeom>
          <a:solidFill>
            <a:srgbClr val="1F5FA9"/>
          </a:solidFill>
          <a:ln/>
        </p:spPr>
      </p:sp>
      <p:sp>
        <p:nvSpPr>
          <p:cNvPr id="8" name="Text 6"/>
          <p:cNvSpPr txBox="1"/>
          <p:nvPr/>
        </p:nvSpPr>
        <p:spPr>
          <a:xfrm>
            <a:off x="6510528" y="1856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086600" y="1755648"/>
            <a:ext cx="4389120" cy="292608"/>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Plans</a:t>
            </a:r>
            <a:endParaRPr lang="en-US" sz="1500" dirty="0"/>
          </a:p>
        </p:txBody>
      </p:sp>
      <p:sp>
        <p:nvSpPr>
          <p:cNvPr id="10" name="Text 8"/>
          <p:cNvSpPr txBox="1"/>
          <p:nvPr/>
        </p:nvSpPr>
        <p:spPr>
          <a:xfrm>
            <a:off x="7086600" y="2057400"/>
            <a:ext cx="4389120" cy="365760"/>
          </a:xfrm>
          <a:prstGeom prst="rect">
            <a:avLst/>
          </a:prstGeom>
          <a:noFill/>
          <a:ln/>
        </p:spPr>
        <p:txBody>
          <a:bodyPr wrap="square" lIns="0" tIns="0" rIns="0" bIns="0" rtlCol="0" anchor="ctr"/>
          <a:lstStyle/>
          <a:p>
            <a:pPr indent="0" marL="0">
              <a:buNone/>
            </a:pPr>
            <a:r>
              <a:rPr lang="en-US" sz="1250" dirty="0">
                <a:solidFill>
                  <a:srgbClr val="5B6672"/>
                </a:solidFill>
                <a:latin typeface="Calibri" pitchFamily="34" charset="0"/>
                <a:ea typeface="Calibri" pitchFamily="34" charset="-122"/>
                <a:cs typeface="Calibri" pitchFamily="34" charset="-120"/>
              </a:rPr>
              <a:t>Decides which tools to call, and in what order</a:t>
            </a:r>
            <a:endParaRPr lang="en-US" sz="1250" dirty="0"/>
          </a:p>
        </p:txBody>
      </p:sp>
      <p:sp>
        <p:nvSpPr>
          <p:cNvPr id="11" name="Shape 9"/>
          <p:cNvSpPr/>
          <p:nvPr/>
        </p:nvSpPr>
        <p:spPr>
          <a:xfrm>
            <a:off x="6309360" y="2679192"/>
            <a:ext cx="5349240" cy="914400"/>
          </a:xfrm>
          <a:prstGeom prst="roundRect">
            <a:avLst>
              <a:gd name="adj" fmla="val 8000"/>
            </a:avLst>
          </a:prstGeom>
          <a:solidFill>
            <a:srgbClr val="EEF3FA"/>
          </a:solidFill>
          <a:ln w="12700">
            <a:solidFill>
              <a:srgbClr val="DFE3E8"/>
            </a:solidFill>
            <a:prstDash val="solid"/>
          </a:ln>
        </p:spPr>
      </p:sp>
      <p:sp>
        <p:nvSpPr>
          <p:cNvPr id="12" name="Shape 10"/>
          <p:cNvSpPr/>
          <p:nvPr/>
        </p:nvSpPr>
        <p:spPr>
          <a:xfrm>
            <a:off x="6510528" y="2935224"/>
            <a:ext cx="402336" cy="402336"/>
          </a:xfrm>
          <a:prstGeom prst="ellipse">
            <a:avLst/>
          </a:prstGeom>
          <a:solidFill>
            <a:srgbClr val="1F5FA9"/>
          </a:solidFill>
          <a:ln/>
        </p:spPr>
      </p:sp>
      <p:sp>
        <p:nvSpPr>
          <p:cNvPr id="13" name="Text 11"/>
          <p:cNvSpPr txBox="1"/>
          <p:nvPr/>
        </p:nvSpPr>
        <p:spPr>
          <a:xfrm>
            <a:off x="6510528" y="2935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86600" y="2834640"/>
            <a:ext cx="4389120" cy="292608"/>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Retrieves</a:t>
            </a:r>
            <a:endParaRPr lang="en-US" sz="1500" dirty="0"/>
          </a:p>
        </p:txBody>
      </p:sp>
      <p:sp>
        <p:nvSpPr>
          <p:cNvPr id="15" name="Text 13"/>
          <p:cNvSpPr txBox="1"/>
          <p:nvPr/>
        </p:nvSpPr>
        <p:spPr>
          <a:xfrm>
            <a:off x="7086600" y="3136392"/>
            <a:ext cx="4389120" cy="365760"/>
          </a:xfrm>
          <a:prstGeom prst="rect">
            <a:avLst/>
          </a:prstGeom>
          <a:noFill/>
          <a:ln/>
        </p:spPr>
        <p:txBody>
          <a:bodyPr wrap="square" lIns="0" tIns="0" rIns="0" bIns="0" rtlCol="0" anchor="ctr"/>
          <a:lstStyle/>
          <a:p>
            <a:pPr indent="0" marL="0">
              <a:buNone/>
            </a:pPr>
            <a:r>
              <a:rPr lang="en-US" sz="1250" dirty="0">
                <a:solidFill>
                  <a:srgbClr val="5B6672"/>
                </a:solidFill>
                <a:latin typeface="Calibri" pitchFamily="34" charset="0"/>
                <a:ea typeface="Calibri" pitchFamily="34" charset="-122"/>
                <a:cs typeface="Calibri" pitchFamily="34" charset="-120"/>
              </a:rPr>
              <a:t>Semantic search over the policy corpus, with citations</a:t>
            </a:r>
            <a:endParaRPr lang="en-US" sz="1250" dirty="0"/>
          </a:p>
        </p:txBody>
      </p:sp>
      <p:sp>
        <p:nvSpPr>
          <p:cNvPr id="16" name="Shape 14"/>
          <p:cNvSpPr/>
          <p:nvPr/>
        </p:nvSpPr>
        <p:spPr>
          <a:xfrm>
            <a:off x="6309360" y="3758184"/>
            <a:ext cx="5349240" cy="914400"/>
          </a:xfrm>
          <a:prstGeom prst="roundRect">
            <a:avLst>
              <a:gd name="adj" fmla="val 8000"/>
            </a:avLst>
          </a:prstGeom>
          <a:solidFill>
            <a:srgbClr val="EEF3FA"/>
          </a:solidFill>
          <a:ln w="12700">
            <a:solidFill>
              <a:srgbClr val="DFE3E8"/>
            </a:solidFill>
            <a:prstDash val="solid"/>
          </a:ln>
        </p:spPr>
      </p:sp>
      <p:sp>
        <p:nvSpPr>
          <p:cNvPr id="17" name="Shape 15"/>
          <p:cNvSpPr/>
          <p:nvPr/>
        </p:nvSpPr>
        <p:spPr>
          <a:xfrm>
            <a:off x="6510528" y="4014216"/>
            <a:ext cx="402336" cy="402336"/>
          </a:xfrm>
          <a:prstGeom prst="ellipse">
            <a:avLst/>
          </a:prstGeom>
          <a:solidFill>
            <a:srgbClr val="1F5FA9"/>
          </a:solidFill>
          <a:ln/>
        </p:spPr>
      </p:sp>
      <p:sp>
        <p:nvSpPr>
          <p:cNvPr id="18" name="Text 16"/>
          <p:cNvSpPr txBox="1"/>
          <p:nvPr/>
        </p:nvSpPr>
        <p:spPr>
          <a:xfrm>
            <a:off x="6510528" y="40142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7086600" y="3913632"/>
            <a:ext cx="4389120" cy="292608"/>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Looks up</a:t>
            </a:r>
            <a:endParaRPr lang="en-US" sz="1500" dirty="0"/>
          </a:p>
        </p:txBody>
      </p:sp>
      <p:sp>
        <p:nvSpPr>
          <p:cNvPr id="20" name="Text 18"/>
          <p:cNvSpPr txBox="1"/>
          <p:nvPr/>
        </p:nvSpPr>
        <p:spPr>
          <a:xfrm>
            <a:off x="7086600" y="4215384"/>
            <a:ext cx="4389120" cy="365760"/>
          </a:xfrm>
          <a:prstGeom prst="rect">
            <a:avLst/>
          </a:prstGeom>
          <a:noFill/>
          <a:ln/>
        </p:spPr>
        <p:txBody>
          <a:bodyPr wrap="square" lIns="0" tIns="0" rIns="0" bIns="0" rtlCol="0" anchor="ctr"/>
          <a:lstStyle/>
          <a:p>
            <a:pPr indent="0" marL="0">
              <a:buNone/>
            </a:pPr>
            <a:r>
              <a:rPr lang="en-US" sz="1250" dirty="0">
                <a:solidFill>
                  <a:srgbClr val="5B6672"/>
                </a:solidFill>
                <a:latin typeface="Calibri" pitchFamily="34" charset="0"/>
                <a:ea typeface="Calibri" pitchFamily="34" charset="-122"/>
                <a:cs typeface="Calibri" pitchFamily="34" charset="-120"/>
              </a:rPr>
              <a:t>Balances, tenure, eligibility from HR records</a:t>
            </a:r>
            <a:endParaRPr lang="en-US" sz="1250" dirty="0"/>
          </a:p>
        </p:txBody>
      </p:sp>
      <p:sp>
        <p:nvSpPr>
          <p:cNvPr id="21" name="Shape 19"/>
          <p:cNvSpPr/>
          <p:nvPr/>
        </p:nvSpPr>
        <p:spPr>
          <a:xfrm>
            <a:off x="6309360" y="4837176"/>
            <a:ext cx="5349240" cy="914400"/>
          </a:xfrm>
          <a:prstGeom prst="roundRect">
            <a:avLst>
              <a:gd name="adj" fmla="val 8000"/>
            </a:avLst>
          </a:prstGeom>
          <a:solidFill>
            <a:srgbClr val="FDF3E3"/>
          </a:solidFill>
          <a:ln w="12700">
            <a:solidFill>
              <a:srgbClr val="E3B980"/>
            </a:solidFill>
            <a:prstDash val="solid"/>
          </a:ln>
        </p:spPr>
      </p:sp>
      <p:sp>
        <p:nvSpPr>
          <p:cNvPr id="22" name="Shape 20"/>
          <p:cNvSpPr/>
          <p:nvPr/>
        </p:nvSpPr>
        <p:spPr>
          <a:xfrm>
            <a:off x="6510528" y="5093208"/>
            <a:ext cx="402336" cy="402336"/>
          </a:xfrm>
          <a:prstGeom prst="ellipse">
            <a:avLst/>
          </a:prstGeom>
          <a:solidFill>
            <a:srgbClr val="B8770A"/>
          </a:solidFill>
          <a:ln/>
        </p:spPr>
      </p:sp>
      <p:sp>
        <p:nvSpPr>
          <p:cNvPr id="23" name="Text 21"/>
          <p:cNvSpPr txBox="1"/>
          <p:nvPr/>
        </p:nvSpPr>
        <p:spPr>
          <a:xfrm>
            <a:off x="6510528" y="5093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86600" y="4992624"/>
            <a:ext cx="4389120" cy="292608"/>
          </a:xfrm>
          <a:prstGeom prst="rect">
            <a:avLst/>
          </a:prstGeom>
          <a:noFill/>
          <a:ln/>
        </p:spPr>
        <p:txBody>
          <a:bodyPr wrap="square" lIns="0" tIns="0" rIns="0" bIns="0" rtlCol="0" anchor="ctr"/>
          <a:lstStyle/>
          <a:p>
            <a:pPr indent="0" marL="0">
              <a:buNone/>
            </a:pPr>
            <a:r>
              <a:rPr lang="en-US" sz="1500" b="1" dirty="0">
                <a:solidFill>
                  <a:srgbClr val="B8770A"/>
                </a:solidFill>
                <a:latin typeface="Calibri" pitchFamily="34" charset="0"/>
                <a:ea typeface="Calibri" pitchFamily="34" charset="-122"/>
                <a:cs typeface="Calibri" pitchFamily="34" charset="-120"/>
              </a:rPr>
              <a:t>Acts — carefully</a:t>
            </a:r>
            <a:endParaRPr lang="en-US" sz="1500" dirty="0"/>
          </a:p>
        </p:txBody>
      </p:sp>
      <p:sp>
        <p:nvSpPr>
          <p:cNvPr id="25" name="Text 23"/>
          <p:cNvSpPr txBox="1"/>
          <p:nvPr/>
        </p:nvSpPr>
        <p:spPr>
          <a:xfrm>
            <a:off x="7086600" y="5294376"/>
            <a:ext cx="4389120" cy="365760"/>
          </a:xfrm>
          <a:prstGeom prst="rect">
            <a:avLst/>
          </a:prstGeom>
          <a:noFill/>
          <a:ln/>
        </p:spPr>
        <p:txBody>
          <a:bodyPr wrap="square" lIns="0" tIns="0" rIns="0" bIns="0" rtlCol="0" anchor="ctr"/>
          <a:lstStyle/>
          <a:p>
            <a:pPr indent="0" marL="0">
              <a:buNone/>
            </a:pPr>
            <a:r>
              <a:rPr lang="en-US" sz="1250" dirty="0">
                <a:solidFill>
                  <a:srgbClr val="5B6672"/>
                </a:solidFill>
                <a:latin typeface="Calibri" pitchFamily="34" charset="0"/>
                <a:ea typeface="Calibri" pitchFamily="34" charset="-122"/>
                <a:cs typeface="Calibri" pitchFamily="34" charset="-120"/>
              </a:rPr>
              <a:t>Drafts and files tickets, but only after you confirm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One agent, eight tools, a real protocol boundary</a:t>
            </a:r>
            <a:endParaRPr lang="en-US" sz="3200" dirty="0"/>
          </a:p>
        </p:txBody>
      </p:sp>
      <p:sp>
        <p:nvSpPr>
          <p:cNvPr id="4" name="Shape 2"/>
          <p:cNvSpPr/>
          <p:nvPr/>
        </p:nvSpPr>
        <p:spPr>
          <a:xfrm>
            <a:off x="548640" y="1828800"/>
            <a:ext cx="2057400" cy="1143000"/>
          </a:xfrm>
          <a:prstGeom prst="roundRect">
            <a:avLst>
              <a:gd name="adj" fmla="val 6400"/>
            </a:avLst>
          </a:prstGeom>
          <a:solidFill>
            <a:srgbClr val="EEF3FA"/>
          </a:solidFill>
          <a:ln w="12700">
            <a:solidFill>
              <a:srgbClr val="DFE3E8"/>
            </a:solidFill>
            <a:prstDash val="solid"/>
          </a:ln>
        </p:spPr>
      </p:sp>
      <p:sp>
        <p:nvSpPr>
          <p:cNvPr id="5" name="Text 3"/>
          <p:cNvSpPr txBox="1"/>
          <p:nvPr/>
        </p:nvSpPr>
        <p:spPr>
          <a:xfrm>
            <a:off x="548640" y="2029968"/>
            <a:ext cx="2057400" cy="347472"/>
          </a:xfrm>
          <a:prstGeom prst="rect">
            <a:avLst/>
          </a:prstGeom>
          <a:noFill/>
          <a:ln/>
        </p:spPr>
        <p:txBody>
          <a:bodyPr wrap="square" lIns="0" tIns="0" rIns="0" bIns="0" rtlCol="0" anchor="ctr"/>
          <a:lstStyle/>
          <a:p>
            <a:pPr algn="ctr" indent="0" marL="0">
              <a:buNone/>
            </a:pPr>
            <a:r>
              <a:rPr lang="en-US" sz="1600" b="1" dirty="0">
                <a:solidFill>
                  <a:srgbClr val="1B1F24"/>
                </a:solidFill>
                <a:latin typeface="Calibri" pitchFamily="34" charset="0"/>
                <a:ea typeface="Calibri" pitchFamily="34" charset="-122"/>
                <a:cs typeface="Calibri" pitchFamily="34" charset="-120"/>
              </a:rPr>
              <a:t>Browser</a:t>
            </a:r>
            <a:endParaRPr lang="en-US" sz="1600" dirty="0"/>
          </a:p>
        </p:txBody>
      </p:sp>
      <p:sp>
        <p:nvSpPr>
          <p:cNvPr id="6" name="Text 4"/>
          <p:cNvSpPr txBox="1"/>
          <p:nvPr/>
        </p:nvSpPr>
        <p:spPr>
          <a:xfrm>
            <a:off x="548640" y="2395728"/>
            <a:ext cx="2057400" cy="320040"/>
          </a:xfrm>
          <a:prstGeom prst="rect">
            <a:avLst/>
          </a:prstGeom>
          <a:noFill/>
          <a:ln/>
        </p:spPr>
        <p:txBody>
          <a:bodyPr wrap="square" lIns="0" tIns="0" rIns="0" bIns="0" rtlCol="0" anchor="ctr"/>
          <a:lstStyle/>
          <a:p>
            <a:pPr algn="ctr" indent="0" marL="0">
              <a:buNone/>
            </a:pPr>
            <a:r>
              <a:rPr lang="en-US" sz="1150" dirty="0">
                <a:solidFill>
                  <a:srgbClr val="5B6672"/>
                </a:solidFill>
                <a:latin typeface="Calibri" pitchFamily="34" charset="0"/>
                <a:ea typeface="Calibri" pitchFamily="34" charset="-122"/>
                <a:cs typeface="Calibri" pitchFamily="34" charset="-120"/>
              </a:rPr>
              <a:t>chat UI</a:t>
            </a:r>
            <a:endParaRPr lang="en-US" sz="1150" dirty="0"/>
          </a:p>
        </p:txBody>
      </p:sp>
      <p:sp>
        <p:nvSpPr>
          <p:cNvPr id="7" name="Shape 5"/>
          <p:cNvSpPr/>
          <p:nvPr/>
        </p:nvSpPr>
        <p:spPr>
          <a:xfrm>
            <a:off x="2606040" y="2395728"/>
            <a:ext cx="457200" cy="0"/>
          </a:xfrm>
          <a:prstGeom prst="line">
            <a:avLst/>
          </a:prstGeom>
          <a:noFill/>
          <a:ln w="19050">
            <a:solidFill>
              <a:srgbClr val="5B6672"/>
            </a:solidFill>
            <a:prstDash val="solid"/>
            <a:tailEnd type="triangle"/>
          </a:ln>
        </p:spPr>
      </p:sp>
      <p:sp>
        <p:nvSpPr>
          <p:cNvPr id="8" name="Shape 6"/>
          <p:cNvSpPr/>
          <p:nvPr/>
        </p:nvSpPr>
        <p:spPr>
          <a:xfrm>
            <a:off x="3063240" y="1828800"/>
            <a:ext cx="2057400" cy="1143000"/>
          </a:xfrm>
          <a:prstGeom prst="roundRect">
            <a:avLst>
              <a:gd name="adj" fmla="val 6400"/>
            </a:avLst>
          </a:prstGeom>
          <a:solidFill>
            <a:srgbClr val="EEF3FA"/>
          </a:solidFill>
          <a:ln w="12700">
            <a:solidFill>
              <a:srgbClr val="DFE3E8"/>
            </a:solidFill>
            <a:prstDash val="solid"/>
          </a:ln>
        </p:spPr>
      </p:sp>
      <p:sp>
        <p:nvSpPr>
          <p:cNvPr id="9" name="Text 7"/>
          <p:cNvSpPr txBox="1"/>
          <p:nvPr/>
        </p:nvSpPr>
        <p:spPr>
          <a:xfrm>
            <a:off x="3063240" y="2029968"/>
            <a:ext cx="2057400" cy="347472"/>
          </a:xfrm>
          <a:prstGeom prst="rect">
            <a:avLst/>
          </a:prstGeom>
          <a:noFill/>
          <a:ln/>
        </p:spPr>
        <p:txBody>
          <a:bodyPr wrap="square" lIns="0" tIns="0" rIns="0" bIns="0" rtlCol="0" anchor="ctr"/>
          <a:lstStyle/>
          <a:p>
            <a:pPr algn="ctr" indent="0" marL="0">
              <a:buNone/>
            </a:pPr>
            <a:r>
              <a:rPr lang="en-US" sz="1600" b="1" dirty="0">
                <a:solidFill>
                  <a:srgbClr val="1B1F24"/>
                </a:solidFill>
                <a:latin typeface="Calibri" pitchFamily="34" charset="0"/>
                <a:ea typeface="Calibri" pitchFamily="34" charset="-122"/>
                <a:cs typeface="Calibri" pitchFamily="34" charset="-120"/>
              </a:rPr>
              <a:t>FastAPI</a:t>
            </a:r>
            <a:endParaRPr lang="en-US" sz="1600" dirty="0"/>
          </a:p>
        </p:txBody>
      </p:sp>
      <p:sp>
        <p:nvSpPr>
          <p:cNvPr id="10" name="Text 8"/>
          <p:cNvSpPr txBox="1"/>
          <p:nvPr/>
        </p:nvSpPr>
        <p:spPr>
          <a:xfrm>
            <a:off x="3063240" y="2395728"/>
            <a:ext cx="2057400" cy="320040"/>
          </a:xfrm>
          <a:prstGeom prst="rect">
            <a:avLst/>
          </a:prstGeom>
          <a:noFill/>
          <a:ln/>
        </p:spPr>
        <p:txBody>
          <a:bodyPr wrap="square" lIns="0" tIns="0" rIns="0" bIns="0" rtlCol="0" anchor="ctr"/>
          <a:lstStyle/>
          <a:p>
            <a:pPr algn="ctr" indent="0" marL="0">
              <a:buNone/>
            </a:pPr>
            <a:r>
              <a:rPr lang="en-US" sz="1150" dirty="0">
                <a:solidFill>
                  <a:srgbClr val="5B6672"/>
                </a:solidFill>
                <a:latin typeface="Calibri" pitchFamily="34" charset="0"/>
                <a:ea typeface="Calibri" pitchFamily="34" charset="-122"/>
                <a:cs typeface="Calibri" pitchFamily="34" charset="-120"/>
              </a:rPr>
              <a:t>/chat  ·  /health</a:t>
            </a:r>
            <a:endParaRPr lang="en-US" sz="1150" dirty="0"/>
          </a:p>
        </p:txBody>
      </p:sp>
      <p:sp>
        <p:nvSpPr>
          <p:cNvPr id="11" name="Shape 9"/>
          <p:cNvSpPr/>
          <p:nvPr/>
        </p:nvSpPr>
        <p:spPr>
          <a:xfrm>
            <a:off x="5120640" y="2395728"/>
            <a:ext cx="457200" cy="0"/>
          </a:xfrm>
          <a:prstGeom prst="line">
            <a:avLst/>
          </a:prstGeom>
          <a:noFill/>
          <a:ln w="19050">
            <a:solidFill>
              <a:srgbClr val="5B6672"/>
            </a:solidFill>
            <a:prstDash val="solid"/>
            <a:tailEnd type="triangle"/>
          </a:ln>
        </p:spPr>
      </p:sp>
      <p:sp>
        <p:nvSpPr>
          <p:cNvPr id="12" name="Shape 10"/>
          <p:cNvSpPr/>
          <p:nvPr/>
        </p:nvSpPr>
        <p:spPr>
          <a:xfrm>
            <a:off x="5577840" y="1828800"/>
            <a:ext cx="2057400" cy="1143000"/>
          </a:xfrm>
          <a:prstGeom prst="roundRect">
            <a:avLst>
              <a:gd name="adj" fmla="val 6400"/>
            </a:avLst>
          </a:prstGeom>
          <a:solidFill>
            <a:srgbClr val="1F5FA9"/>
          </a:solidFill>
          <a:ln w="12700">
            <a:solidFill>
              <a:srgbClr val="1F5FA9"/>
            </a:solidFill>
            <a:prstDash val="solid"/>
          </a:ln>
        </p:spPr>
      </p:sp>
      <p:sp>
        <p:nvSpPr>
          <p:cNvPr id="13" name="Text 11"/>
          <p:cNvSpPr txBox="1"/>
          <p:nvPr/>
        </p:nvSpPr>
        <p:spPr>
          <a:xfrm>
            <a:off x="5577840" y="2029968"/>
            <a:ext cx="20574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Agent</a:t>
            </a:r>
            <a:endParaRPr lang="en-US" sz="1600" dirty="0"/>
          </a:p>
        </p:txBody>
      </p:sp>
      <p:sp>
        <p:nvSpPr>
          <p:cNvPr id="14" name="Text 12"/>
          <p:cNvSpPr txBox="1"/>
          <p:nvPr/>
        </p:nvSpPr>
        <p:spPr>
          <a:xfrm>
            <a:off x="5577840" y="2395728"/>
            <a:ext cx="2057400" cy="3200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tool-calling loop</a:t>
            </a:r>
            <a:endParaRPr lang="en-US" sz="1150" dirty="0"/>
          </a:p>
        </p:txBody>
      </p:sp>
      <p:sp>
        <p:nvSpPr>
          <p:cNvPr id="15" name="Shape 13"/>
          <p:cNvSpPr/>
          <p:nvPr/>
        </p:nvSpPr>
        <p:spPr>
          <a:xfrm>
            <a:off x="7635240" y="2395728"/>
            <a:ext cx="457200" cy="0"/>
          </a:xfrm>
          <a:prstGeom prst="line">
            <a:avLst/>
          </a:prstGeom>
          <a:noFill/>
          <a:ln w="19050">
            <a:solidFill>
              <a:srgbClr val="5B6672"/>
            </a:solidFill>
            <a:prstDash val="solid"/>
            <a:tailEnd type="triangle"/>
          </a:ln>
        </p:spPr>
      </p:sp>
      <p:sp>
        <p:nvSpPr>
          <p:cNvPr id="16" name="Shape 14"/>
          <p:cNvSpPr/>
          <p:nvPr/>
        </p:nvSpPr>
        <p:spPr>
          <a:xfrm>
            <a:off x="8092440" y="1828800"/>
            <a:ext cx="2057400" cy="1143000"/>
          </a:xfrm>
          <a:prstGeom prst="roundRect">
            <a:avLst>
              <a:gd name="adj" fmla="val 6400"/>
            </a:avLst>
          </a:prstGeom>
          <a:solidFill>
            <a:srgbClr val="1E2761"/>
          </a:solidFill>
          <a:ln w="12700">
            <a:solidFill>
              <a:srgbClr val="1E2761"/>
            </a:solidFill>
            <a:prstDash val="solid"/>
          </a:ln>
        </p:spPr>
      </p:sp>
      <p:sp>
        <p:nvSpPr>
          <p:cNvPr id="17" name="Text 15"/>
          <p:cNvSpPr txBox="1"/>
          <p:nvPr/>
        </p:nvSpPr>
        <p:spPr>
          <a:xfrm>
            <a:off x="8092440" y="2029968"/>
            <a:ext cx="20574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MCP server</a:t>
            </a:r>
            <a:endParaRPr lang="en-US" sz="1600" dirty="0"/>
          </a:p>
        </p:txBody>
      </p:sp>
      <p:sp>
        <p:nvSpPr>
          <p:cNvPr id="18" name="Text 16"/>
          <p:cNvSpPr txBox="1"/>
          <p:nvPr/>
        </p:nvSpPr>
        <p:spPr>
          <a:xfrm>
            <a:off x="8092440" y="2395728"/>
            <a:ext cx="2057400" cy="3200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8 tools, stdio</a:t>
            </a:r>
            <a:endParaRPr lang="en-US" sz="1150" dirty="0"/>
          </a:p>
        </p:txBody>
      </p:sp>
      <p:sp>
        <p:nvSpPr>
          <p:cNvPr id="19" name="Text 17"/>
          <p:cNvSpPr txBox="1"/>
          <p:nvPr/>
        </p:nvSpPr>
        <p:spPr>
          <a:xfrm>
            <a:off x="7589520" y="1481328"/>
            <a:ext cx="2377440" cy="27432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MCP over stdio</a:t>
            </a:r>
            <a:endParaRPr lang="en-US" sz="1100" dirty="0"/>
          </a:p>
        </p:txBody>
      </p:sp>
      <p:sp>
        <p:nvSpPr>
          <p:cNvPr id="20" name="Shape 18"/>
          <p:cNvSpPr/>
          <p:nvPr/>
        </p:nvSpPr>
        <p:spPr>
          <a:xfrm>
            <a:off x="8092440" y="3429000"/>
            <a:ext cx="3520440" cy="749808"/>
          </a:xfrm>
          <a:prstGeom prst="roundRect">
            <a:avLst>
              <a:gd name="adj" fmla="val 9756"/>
            </a:avLst>
          </a:prstGeom>
          <a:solidFill>
            <a:srgbClr val="EEF3FA"/>
          </a:solidFill>
          <a:ln w="12700">
            <a:solidFill>
              <a:srgbClr val="DFE3E8"/>
            </a:solidFill>
            <a:prstDash val="solid"/>
          </a:ln>
        </p:spPr>
      </p:sp>
      <p:sp>
        <p:nvSpPr>
          <p:cNvPr id="21" name="Text 19"/>
          <p:cNvSpPr txBox="1"/>
          <p:nvPr/>
        </p:nvSpPr>
        <p:spPr>
          <a:xfrm>
            <a:off x="8293608" y="3538728"/>
            <a:ext cx="3108960" cy="274320"/>
          </a:xfrm>
          <a:prstGeom prst="rect">
            <a:avLst/>
          </a:prstGeom>
          <a:noFill/>
          <a:ln/>
        </p:spPr>
        <p:txBody>
          <a:bodyPr wrap="square" lIns="0" tIns="0" rIns="0" bIns="0"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Chroma  ·  140 chunks</a:t>
            </a:r>
            <a:endParaRPr lang="en-US" sz="1300" dirty="0"/>
          </a:p>
        </p:txBody>
      </p:sp>
      <p:sp>
        <p:nvSpPr>
          <p:cNvPr id="22" name="Text 20"/>
          <p:cNvSpPr txBox="1"/>
          <p:nvPr/>
        </p:nvSpPr>
        <p:spPr>
          <a:xfrm>
            <a:off x="8293608" y="3831336"/>
            <a:ext cx="3108960" cy="256032"/>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bge-small-en-v1.5, cosine</a:t>
            </a:r>
            <a:endParaRPr lang="en-US" sz="1150" dirty="0"/>
          </a:p>
        </p:txBody>
      </p:sp>
      <p:sp>
        <p:nvSpPr>
          <p:cNvPr id="23" name="Shape 21"/>
          <p:cNvSpPr/>
          <p:nvPr/>
        </p:nvSpPr>
        <p:spPr>
          <a:xfrm>
            <a:off x="8092440" y="4343400"/>
            <a:ext cx="3520440" cy="749808"/>
          </a:xfrm>
          <a:prstGeom prst="roundRect">
            <a:avLst>
              <a:gd name="adj" fmla="val 9756"/>
            </a:avLst>
          </a:prstGeom>
          <a:solidFill>
            <a:srgbClr val="EEF3FA"/>
          </a:solidFill>
          <a:ln w="12700">
            <a:solidFill>
              <a:srgbClr val="DFE3E8"/>
            </a:solidFill>
            <a:prstDash val="solid"/>
          </a:ln>
        </p:spPr>
      </p:sp>
      <p:sp>
        <p:nvSpPr>
          <p:cNvPr id="24" name="Text 22"/>
          <p:cNvSpPr txBox="1"/>
          <p:nvPr/>
        </p:nvSpPr>
        <p:spPr>
          <a:xfrm>
            <a:off x="8293608" y="4453128"/>
            <a:ext cx="3108960" cy="274320"/>
          </a:xfrm>
          <a:prstGeom prst="rect">
            <a:avLst/>
          </a:prstGeom>
          <a:noFill/>
          <a:ln/>
        </p:spPr>
        <p:txBody>
          <a:bodyPr wrap="square" lIns="0" tIns="0" rIns="0" bIns="0" rtlCol="0" anchor="ctr"/>
          <a:lstStyle/>
          <a:p>
            <a:pPr indent="0" marL="0">
              <a:buNone/>
            </a:pPr>
            <a:r>
              <a:rPr lang="en-US" sz="1300" b="1" dirty="0">
                <a:solidFill>
                  <a:srgbClr val="1B1F24"/>
                </a:solidFill>
                <a:latin typeface="Calibri" pitchFamily="34" charset="0"/>
                <a:ea typeface="Calibri" pitchFamily="34" charset="-122"/>
                <a:cs typeface="Calibri" pitchFamily="34" charset="-120"/>
              </a:rPr>
              <a:t>Mock HR data</a:t>
            </a:r>
            <a:endParaRPr lang="en-US" sz="1300" dirty="0"/>
          </a:p>
        </p:txBody>
      </p:sp>
      <p:sp>
        <p:nvSpPr>
          <p:cNvPr id="25" name="Text 23"/>
          <p:cNvSpPr txBox="1"/>
          <p:nvPr/>
        </p:nvSpPr>
        <p:spPr>
          <a:xfrm>
            <a:off x="8293608" y="4745736"/>
            <a:ext cx="3108960" cy="256032"/>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10 employees, frozen clock</a:t>
            </a:r>
            <a:endParaRPr lang="en-US" sz="1150" dirty="0"/>
          </a:p>
        </p:txBody>
      </p:sp>
      <p:sp>
        <p:nvSpPr>
          <p:cNvPr id="26" name="Shape 24"/>
          <p:cNvSpPr/>
          <p:nvPr/>
        </p:nvSpPr>
        <p:spPr>
          <a:xfrm>
            <a:off x="9052560" y="2971800"/>
            <a:ext cx="0" cy="457200"/>
          </a:xfrm>
          <a:prstGeom prst="line">
            <a:avLst/>
          </a:prstGeom>
          <a:noFill/>
          <a:ln w="19050">
            <a:solidFill>
              <a:srgbClr val="5B6672"/>
            </a:solidFill>
            <a:prstDash val="solid"/>
            <a:tailEnd type="triangle"/>
          </a:ln>
        </p:spPr>
      </p:sp>
      <p:sp>
        <p:nvSpPr>
          <p:cNvPr id="27" name="Shape 25"/>
          <p:cNvSpPr/>
          <p:nvPr/>
        </p:nvSpPr>
        <p:spPr>
          <a:xfrm>
            <a:off x="548640" y="3566160"/>
            <a:ext cx="7223760" cy="1508760"/>
          </a:xfrm>
          <a:prstGeom prst="roundRect">
            <a:avLst>
              <a:gd name="adj" fmla="val 4848"/>
            </a:avLst>
          </a:prstGeom>
          <a:solidFill>
            <a:srgbClr val="FDF3E3"/>
          </a:solidFill>
          <a:ln w="12700">
            <a:solidFill>
              <a:srgbClr val="E3B980"/>
            </a:solidFill>
            <a:prstDash val="solid"/>
          </a:ln>
        </p:spPr>
      </p:sp>
      <p:sp>
        <p:nvSpPr>
          <p:cNvPr id="28" name="Text 26"/>
          <p:cNvSpPr txBox="1"/>
          <p:nvPr/>
        </p:nvSpPr>
        <p:spPr>
          <a:xfrm>
            <a:off x="822960" y="3749040"/>
            <a:ext cx="6766560" cy="320040"/>
          </a:xfrm>
          <a:prstGeom prst="rect">
            <a:avLst/>
          </a:prstGeom>
          <a:noFill/>
          <a:ln/>
        </p:spPr>
        <p:txBody>
          <a:bodyPr wrap="square" lIns="0" tIns="0" rIns="0" bIns="0" rtlCol="0" anchor="ctr"/>
          <a:lstStyle/>
          <a:p>
            <a:pPr indent="0" marL="0">
              <a:buNone/>
            </a:pPr>
            <a:r>
              <a:rPr lang="en-US" sz="1500" b="1" dirty="0">
                <a:solidFill>
                  <a:srgbClr val="B8770A"/>
                </a:solidFill>
                <a:latin typeface="Calibri" pitchFamily="34" charset="0"/>
                <a:ea typeface="Calibri" pitchFamily="34" charset="-122"/>
                <a:cs typeface="Calibri" pitchFamily="34" charset="-120"/>
              </a:rPr>
              <a:t>The agent defines no tools of its own.</a:t>
            </a:r>
            <a:endParaRPr lang="en-US" sz="1500" dirty="0"/>
          </a:p>
        </p:txBody>
      </p:sp>
      <p:sp>
        <p:nvSpPr>
          <p:cNvPr id="29" name="Text 27"/>
          <p:cNvSpPr txBox="1"/>
          <p:nvPr/>
        </p:nvSpPr>
        <p:spPr>
          <a:xfrm>
            <a:off x="822960" y="4096512"/>
            <a:ext cx="6766560" cy="868680"/>
          </a:xfrm>
          <a:prstGeom prst="rect">
            <a:avLst/>
          </a:prstGeom>
          <a:noFill/>
          <a:ln/>
        </p:spPr>
        <p:txBody>
          <a:bodyPr wrap="square" lIns="0" tIns="0" rIns="0" bIns="0" rtlCol="0" anchor="ctr"/>
          <a:lstStyle/>
          <a:p>
            <a:pPr indent="0" marL="0">
              <a:lnSpc>
                <a:spcPct val="120000"/>
              </a:lnSpc>
              <a:buNone/>
            </a:pPr>
            <a:r>
              <a:rPr lang="en-US" sz="1300" dirty="0">
                <a:solidFill>
                  <a:srgbClr val="1B1F24"/>
                </a:solidFill>
                <a:latin typeface="Calibri" pitchFamily="34" charset="0"/>
                <a:ea typeface="Calibri" pitchFamily="34" charset="-122"/>
                <a:cs typeface="Calibri" pitchFamily="34" charset="-120"/>
              </a:rPr>
              <a:t>It reads the schemas from the live MCP session at connect time and translates them for the model. Adding a tool to the server is the only edit needed — the two cannot drift apart, because the agent holds no copy.</a:t>
            </a:r>
            <a:endParaRPr lang="en-US" sz="1300" dirty="0"/>
          </a:p>
        </p:txBody>
      </p:sp>
      <p:sp>
        <p:nvSpPr>
          <p:cNvPr id="30" name="Text 28"/>
          <p:cNvSpPr txBox="1"/>
          <p:nvPr/>
        </p:nvSpPr>
        <p:spPr>
          <a:xfrm>
            <a:off x="548640" y="5257800"/>
            <a:ext cx="11064240" cy="274320"/>
          </a:xfrm>
          <a:prstGeom prst="rect">
            <a:avLst/>
          </a:prstGeom>
          <a:noFill/>
          <a:ln/>
        </p:spPr>
        <p:txBody>
          <a:bodyPr wrap="square" lIns="0" tIns="0" rIns="0" bIns="0" rtlCol="0" anchor="ctr"/>
          <a:lstStyle/>
          <a:p>
            <a:pPr indent="0" marL="0">
              <a:buNone/>
            </a:pPr>
            <a:r>
              <a:rPr lang="en-US" sz="1200" i="1" dirty="0">
                <a:solidFill>
                  <a:srgbClr val="5B6672"/>
                </a:solidFill>
                <a:latin typeface="Calibri" pitchFamily="34" charset="0"/>
                <a:ea typeface="Calibri" pitchFamily="34" charset="-122"/>
                <a:cs typeface="Calibri" pitchFamily="34" charset="-120"/>
              </a:rPr>
              <a:t>Provider-agnostic: Groq, OpenRouter, DeepSeek — selectable per request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A corpus built to be tested, not just retrieved</a:t>
            </a:r>
            <a:endParaRPr lang="en-US" sz="3200" dirty="0"/>
          </a:p>
        </p:txBody>
      </p:sp>
      <p:sp>
        <p:nvSpPr>
          <p:cNvPr id="4" name="Text 2"/>
          <p:cNvSpPr txBox="1"/>
          <p:nvPr/>
        </p:nvSpPr>
        <p:spPr>
          <a:xfrm>
            <a:off x="548640" y="1645920"/>
            <a:ext cx="2377440" cy="640080"/>
          </a:xfrm>
          <a:prstGeom prst="rect">
            <a:avLst/>
          </a:prstGeom>
          <a:noFill/>
          <a:ln/>
        </p:spPr>
        <p:txBody>
          <a:bodyPr wrap="square" lIns="0" tIns="0" rIns="0" bIns="0" rtlCol="0" anchor="ctr"/>
          <a:lstStyle/>
          <a:p>
            <a:pPr indent="0" marL="0">
              <a:buNone/>
            </a:pPr>
            <a:r>
              <a:rPr lang="en-US" sz="4400" b="1" dirty="0">
                <a:solidFill>
                  <a:srgbClr val="1F5FA9"/>
                </a:solidFill>
                <a:latin typeface="Cambria" pitchFamily="34" charset="0"/>
                <a:ea typeface="Cambria" pitchFamily="34" charset="-122"/>
                <a:cs typeface="Cambria" pitchFamily="34" charset="-120"/>
              </a:rPr>
              <a:t>10</a:t>
            </a:r>
            <a:endParaRPr lang="en-US" sz="4400" dirty="0"/>
          </a:p>
        </p:txBody>
      </p:sp>
      <p:sp>
        <p:nvSpPr>
          <p:cNvPr id="5" name="Text 3"/>
          <p:cNvSpPr txBox="1"/>
          <p:nvPr/>
        </p:nvSpPr>
        <p:spPr>
          <a:xfrm>
            <a:off x="548640" y="2322576"/>
            <a:ext cx="237744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policy documents</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~52 pages</a:t>
            </a:r>
            <a:endParaRPr lang="en-US" sz="1200" dirty="0"/>
          </a:p>
        </p:txBody>
      </p:sp>
      <p:sp>
        <p:nvSpPr>
          <p:cNvPr id="6" name="Text 4"/>
          <p:cNvSpPr txBox="1"/>
          <p:nvPr/>
        </p:nvSpPr>
        <p:spPr>
          <a:xfrm>
            <a:off x="3200400" y="1645920"/>
            <a:ext cx="2377440" cy="640080"/>
          </a:xfrm>
          <a:prstGeom prst="rect">
            <a:avLst/>
          </a:prstGeom>
          <a:noFill/>
          <a:ln/>
        </p:spPr>
        <p:txBody>
          <a:bodyPr wrap="square" lIns="0" tIns="0" rIns="0" bIns="0" rtlCol="0" anchor="ctr"/>
          <a:lstStyle/>
          <a:p>
            <a:pPr indent="0" marL="0">
              <a:buNone/>
            </a:pPr>
            <a:r>
              <a:rPr lang="en-US" sz="4400" b="1" dirty="0">
                <a:solidFill>
                  <a:srgbClr val="1F5FA9"/>
                </a:solidFill>
                <a:latin typeface="Cambria" pitchFamily="34" charset="0"/>
                <a:ea typeface="Cambria" pitchFamily="34" charset="-122"/>
                <a:cs typeface="Cambria" pitchFamily="34" charset="-120"/>
              </a:rPr>
              <a:t>2</a:t>
            </a:r>
            <a:endParaRPr lang="en-US" sz="4400" dirty="0"/>
          </a:p>
        </p:txBody>
      </p:sp>
      <p:sp>
        <p:nvSpPr>
          <p:cNvPr id="7" name="Text 5"/>
          <p:cNvSpPr txBox="1"/>
          <p:nvPr/>
        </p:nvSpPr>
        <p:spPr>
          <a:xfrm>
            <a:off x="3200400" y="2322576"/>
            <a:ext cx="237744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formats — Markdown</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and HTML</a:t>
            </a:r>
            <a:endParaRPr lang="en-US" sz="1200" dirty="0"/>
          </a:p>
        </p:txBody>
      </p:sp>
      <p:sp>
        <p:nvSpPr>
          <p:cNvPr id="8" name="Text 6"/>
          <p:cNvSpPr txBox="1"/>
          <p:nvPr/>
        </p:nvSpPr>
        <p:spPr>
          <a:xfrm>
            <a:off x="5852160" y="1645920"/>
            <a:ext cx="2377440" cy="640080"/>
          </a:xfrm>
          <a:prstGeom prst="rect">
            <a:avLst/>
          </a:prstGeom>
          <a:noFill/>
          <a:ln/>
        </p:spPr>
        <p:txBody>
          <a:bodyPr wrap="square" lIns="0" tIns="0" rIns="0" bIns="0" rtlCol="0" anchor="ctr"/>
          <a:lstStyle/>
          <a:p>
            <a:pPr indent="0" marL="0">
              <a:buNone/>
            </a:pPr>
            <a:r>
              <a:rPr lang="en-US" sz="4400" b="1" dirty="0">
                <a:solidFill>
                  <a:srgbClr val="1F5FA9"/>
                </a:solidFill>
                <a:latin typeface="Cambria" pitchFamily="34" charset="0"/>
                <a:ea typeface="Cambria" pitchFamily="34" charset="-122"/>
                <a:cs typeface="Cambria" pitchFamily="34" charset="-120"/>
              </a:rPr>
              <a:t>140</a:t>
            </a:r>
            <a:endParaRPr lang="en-US" sz="4400" dirty="0"/>
          </a:p>
        </p:txBody>
      </p:sp>
      <p:sp>
        <p:nvSpPr>
          <p:cNvPr id="9" name="Text 7"/>
          <p:cNvSpPr txBox="1"/>
          <p:nvPr/>
        </p:nvSpPr>
        <p:spPr>
          <a:xfrm>
            <a:off x="5852160" y="2322576"/>
            <a:ext cx="237744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chunks over</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94 sections</a:t>
            </a:r>
            <a:endParaRPr lang="en-US" sz="1200" dirty="0"/>
          </a:p>
        </p:txBody>
      </p:sp>
      <p:sp>
        <p:nvSpPr>
          <p:cNvPr id="10" name="Text 8"/>
          <p:cNvSpPr txBox="1"/>
          <p:nvPr/>
        </p:nvSpPr>
        <p:spPr>
          <a:xfrm>
            <a:off x="8503920" y="1645920"/>
            <a:ext cx="3108960" cy="640080"/>
          </a:xfrm>
          <a:prstGeom prst="rect">
            <a:avLst/>
          </a:prstGeom>
          <a:noFill/>
          <a:ln/>
        </p:spPr>
        <p:txBody>
          <a:bodyPr wrap="square" lIns="0" tIns="0" rIns="0" bIns="0" rtlCol="0" anchor="ctr"/>
          <a:lstStyle/>
          <a:p>
            <a:pPr indent="0" marL="0">
              <a:buNone/>
            </a:pPr>
            <a:r>
              <a:rPr lang="en-US" sz="4400" b="1" dirty="0">
                <a:solidFill>
                  <a:srgbClr val="1F5FA9"/>
                </a:solidFill>
                <a:latin typeface="Cambria" pitchFamily="34" charset="0"/>
                <a:ea typeface="Cambria" pitchFamily="34" charset="-122"/>
                <a:cs typeface="Cambria" pitchFamily="34" charset="-120"/>
              </a:rPr>
              <a:t>378</a:t>
            </a:r>
            <a:endParaRPr lang="en-US" sz="4400" dirty="0"/>
          </a:p>
        </p:txBody>
      </p:sp>
      <p:sp>
        <p:nvSpPr>
          <p:cNvPr id="11" name="Text 9"/>
          <p:cNvSpPr txBox="1"/>
          <p:nvPr/>
        </p:nvSpPr>
        <p:spPr>
          <a:xfrm>
            <a:off x="8503920" y="2322576"/>
            <a:ext cx="310896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median tokens/chunk</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(cap 480, none over)</a:t>
            </a:r>
            <a:endParaRPr lang="en-US" sz="1200" dirty="0"/>
          </a:p>
        </p:txBody>
      </p:sp>
      <p:sp>
        <p:nvSpPr>
          <p:cNvPr id="12" name="Shape 10"/>
          <p:cNvSpPr/>
          <p:nvPr/>
        </p:nvSpPr>
        <p:spPr>
          <a:xfrm>
            <a:off x="548640" y="3200400"/>
            <a:ext cx="5486400" cy="2468880"/>
          </a:xfrm>
          <a:prstGeom prst="roundRect">
            <a:avLst>
              <a:gd name="adj" fmla="val 2963"/>
            </a:avLst>
          </a:prstGeom>
          <a:solidFill>
            <a:srgbClr val="EEF3FA"/>
          </a:solidFill>
          <a:ln w="12700">
            <a:solidFill>
              <a:srgbClr val="DFE3E8"/>
            </a:solidFill>
            <a:prstDash val="solid"/>
          </a:ln>
        </p:spPr>
      </p:sp>
      <p:sp>
        <p:nvSpPr>
          <p:cNvPr id="13" name="Text 11"/>
          <p:cNvSpPr txBox="1"/>
          <p:nvPr/>
        </p:nvSpPr>
        <p:spPr>
          <a:xfrm>
            <a:off x="822960" y="3364992"/>
            <a:ext cx="4937760" cy="32004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Two authoring rules, enforced in CI</a:t>
            </a:r>
            <a:endParaRPr lang="en-US" sz="1500" dirty="0"/>
          </a:p>
        </p:txBody>
      </p:sp>
      <p:sp>
        <p:nvSpPr>
          <p:cNvPr id="14" name="Text 12"/>
          <p:cNvSpPr txBox="1"/>
          <p:nvPr/>
        </p:nvSpPr>
        <p:spPr>
          <a:xfrm>
            <a:off x="822960" y="3730752"/>
            <a:ext cx="4937760" cy="1828800"/>
          </a:xfrm>
          <a:prstGeom prst="rect">
            <a:avLst/>
          </a:prstGeom>
          <a:noFill/>
          <a:ln/>
        </p:spPr>
        <p:txBody>
          <a:bodyPr wrap="square" lIns="0" tIns="0" rIns="0" bIns="0" rtlCol="0" anchor="ctr"/>
          <a:lstStyle/>
          <a:p>
            <a:pPr marL="342900" indent="-342900">
              <a:spcAft>
                <a:spcPts val="400"/>
              </a:spcAft>
              <a:buSzPct val="100000"/>
              <a:buChar char="•"/>
            </a:pPr>
            <a:r>
              <a:rPr lang="en-US" sz="1250" b="1" dirty="0">
                <a:solidFill>
                  <a:srgbClr val="1B1F24"/>
                </a:solidFill>
                <a:latin typeface="Calibri" pitchFamily="34" charset="0"/>
                <a:ea typeface="Calibri" pitchFamily="34" charset="-122"/>
                <a:cs typeface="Calibri" pitchFamily="34" charset="-120"/>
              </a:rPr>
              <a:t>No worked example may use a value from the employee data.</a:t>
            </a:r>
            <a:endParaRPr lang="en-US" sz="1250" dirty="0"/>
          </a:p>
          <a:p>
            <a:pPr indent="0" marL="0">
              <a:spcAft>
                <a:spcPts val="400"/>
              </a:spcAft>
              <a:buNone/>
            </a:pPr>
            <a:r>
              <a:rPr lang="en-US" sz="1200" dirty="0">
                <a:solidFill>
                  <a:srgbClr val="5B6672"/>
                </a:solidFill>
                <a:latin typeface="Calibri" pitchFamily="34" charset="0"/>
                <a:ea typeface="Calibri" pitchFamily="34" charset="-122"/>
                <a:cs typeface="Calibri" pitchFamily="34" charset="-120"/>
              </a:rPr>
              <a:t>Otherwise the gold answer sits inside a retrievable chunk and the model pattern-matches instead of reasoning.</a:t>
            </a:r>
            <a:endParaRPr lang="en-US" sz="1250" dirty="0"/>
          </a:p>
          <a:p>
            <a:pPr marL="342900" indent="-342900">
              <a:spcAft>
                <a:spcPts val="400"/>
              </a:spcAft>
              <a:buSzPct val="100000"/>
              <a:buChar char="•"/>
            </a:pPr>
            <a:r>
              <a:rPr lang="en-US" sz="1250" b="1" dirty="0">
                <a:solidFill>
                  <a:srgbClr val="1B1F24"/>
                </a:solidFill>
                <a:latin typeface="Calibri" pitchFamily="34" charset="0"/>
                <a:ea typeface="Calibri" pitchFamily="34" charset="-122"/>
                <a:cs typeface="Calibri" pitchFamily="34" charset="-120"/>
              </a:rPr>
              <a:t>Never restate another document's threshold by number.</a:t>
            </a:r>
            <a:endParaRPr lang="en-US" sz="1250" dirty="0"/>
          </a:p>
          <a:p>
            <a:pPr indent="0" marL="0">
              <a:spcAft>
                <a:spcPts val="400"/>
              </a:spcAft>
              <a:buNone/>
            </a:pPr>
            <a:r>
              <a:rPr lang="en-US" sz="1200" dirty="0">
                <a:solidFill>
                  <a:srgbClr val="5B6672"/>
                </a:solidFill>
                <a:latin typeface="Calibri" pitchFamily="34" charset="0"/>
                <a:ea typeface="Calibri" pitchFamily="34" charset="-122"/>
                <a:cs typeface="Calibri" pitchFamily="34" charset="-120"/>
              </a:rPr>
              <a:t>Cross-reference by document ID instead, so one policy cannot go stale against another.</a:t>
            </a:r>
            <a:endParaRPr lang="en-US" sz="1250" dirty="0"/>
          </a:p>
        </p:txBody>
      </p:sp>
      <p:sp>
        <p:nvSpPr>
          <p:cNvPr id="15" name="Shape 13"/>
          <p:cNvSpPr/>
          <p:nvPr/>
        </p:nvSpPr>
        <p:spPr>
          <a:xfrm>
            <a:off x="6309360" y="3200400"/>
            <a:ext cx="5303520" cy="2468880"/>
          </a:xfrm>
          <a:prstGeom prst="roundRect">
            <a:avLst>
              <a:gd name="adj" fmla="val 2963"/>
            </a:avLst>
          </a:prstGeom>
          <a:solidFill>
            <a:srgbClr val="EEF3FA"/>
          </a:solidFill>
          <a:ln w="12700">
            <a:solidFill>
              <a:srgbClr val="DFE3E8"/>
            </a:solidFill>
            <a:prstDash val="solid"/>
          </a:ln>
        </p:spPr>
      </p:sp>
      <p:sp>
        <p:nvSpPr>
          <p:cNvPr id="16" name="Text 14"/>
          <p:cNvSpPr txBox="1"/>
          <p:nvPr/>
        </p:nvSpPr>
        <p:spPr>
          <a:xfrm>
            <a:off x="6583680" y="3364992"/>
            <a:ext cx="4754880" cy="32004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Retrieval decisions worth naming</a:t>
            </a:r>
            <a:endParaRPr lang="en-US" sz="1500" dirty="0"/>
          </a:p>
        </p:txBody>
      </p:sp>
      <p:sp>
        <p:nvSpPr>
          <p:cNvPr id="17" name="Text 15"/>
          <p:cNvSpPr txBox="1"/>
          <p:nvPr/>
        </p:nvSpPr>
        <p:spPr>
          <a:xfrm>
            <a:off x="6583680" y="3730752"/>
            <a:ext cx="4754880" cy="18288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Heading-aware chunking — H2 primary, H3 fallback, greedy packing</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Tokens counted with the embedding model's own tokenizer, never whitespace</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BGE query prefix applied manually — measured that fastembed does not</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Similarity is always 1 − cosine distance; raw distance never escapes the store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MCP SERVER</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Eight tools, discovered over stdio</a:t>
            </a:r>
            <a:endParaRPr lang="en-US" sz="3200" dirty="0"/>
          </a:p>
        </p:txBody>
      </p:sp>
      <p:sp>
        <p:nvSpPr>
          <p:cNvPr id="4" name="Shape 2"/>
          <p:cNvSpPr/>
          <p:nvPr/>
        </p:nvSpPr>
        <p:spPr>
          <a:xfrm>
            <a:off x="548640" y="1600200"/>
            <a:ext cx="5349240" cy="804672"/>
          </a:xfrm>
          <a:prstGeom prst="roundRect">
            <a:avLst>
              <a:gd name="adj" fmla="val 9091"/>
            </a:avLst>
          </a:prstGeom>
          <a:solidFill>
            <a:srgbClr val="FFFFFF"/>
          </a:solidFill>
          <a:ln w="12700">
            <a:solidFill>
              <a:srgbClr val="DFE3E8"/>
            </a:solidFill>
            <a:prstDash val="solid"/>
          </a:ln>
        </p:spPr>
      </p:sp>
      <p:sp>
        <p:nvSpPr>
          <p:cNvPr id="5" name="Shape 3"/>
          <p:cNvSpPr/>
          <p:nvPr/>
        </p:nvSpPr>
        <p:spPr>
          <a:xfrm>
            <a:off x="749808" y="1837944"/>
            <a:ext cx="329184" cy="329184"/>
          </a:xfrm>
          <a:prstGeom prst="ellipse">
            <a:avLst/>
          </a:prstGeom>
          <a:solidFill>
            <a:srgbClr val="1F5FA9"/>
          </a:solidFill>
          <a:ln/>
        </p:spPr>
      </p:sp>
      <p:sp>
        <p:nvSpPr>
          <p:cNvPr id="6" name="Text 4"/>
          <p:cNvSpPr txBox="1"/>
          <p:nvPr/>
        </p:nvSpPr>
        <p:spPr>
          <a:xfrm>
            <a:off x="1207008" y="1700784"/>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search_policy_documents</a:t>
            </a:r>
            <a:endParaRPr lang="en-US" sz="1300" dirty="0"/>
          </a:p>
        </p:txBody>
      </p:sp>
      <p:sp>
        <p:nvSpPr>
          <p:cNvPr id="7" name="Text 5"/>
          <p:cNvSpPr txBox="1"/>
          <p:nvPr/>
        </p:nvSpPr>
        <p:spPr>
          <a:xfrm>
            <a:off x="1207008" y="2011680"/>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Semantic search; flags out-of-corpus</a:t>
            </a:r>
            <a:endParaRPr lang="en-US" sz="1150" dirty="0"/>
          </a:p>
        </p:txBody>
      </p:sp>
      <p:sp>
        <p:nvSpPr>
          <p:cNvPr id="8" name="Shape 6"/>
          <p:cNvSpPr/>
          <p:nvPr/>
        </p:nvSpPr>
        <p:spPr>
          <a:xfrm>
            <a:off x="6217920" y="1600200"/>
            <a:ext cx="5349240" cy="804672"/>
          </a:xfrm>
          <a:prstGeom prst="roundRect">
            <a:avLst>
              <a:gd name="adj" fmla="val 9091"/>
            </a:avLst>
          </a:prstGeom>
          <a:solidFill>
            <a:srgbClr val="FFFFFF"/>
          </a:solidFill>
          <a:ln w="12700">
            <a:solidFill>
              <a:srgbClr val="DFE3E8"/>
            </a:solidFill>
            <a:prstDash val="solid"/>
          </a:ln>
        </p:spPr>
      </p:sp>
      <p:sp>
        <p:nvSpPr>
          <p:cNvPr id="9" name="Shape 7"/>
          <p:cNvSpPr/>
          <p:nvPr/>
        </p:nvSpPr>
        <p:spPr>
          <a:xfrm>
            <a:off x="6419088" y="1837944"/>
            <a:ext cx="329184" cy="329184"/>
          </a:xfrm>
          <a:prstGeom prst="ellipse">
            <a:avLst/>
          </a:prstGeom>
          <a:solidFill>
            <a:srgbClr val="1F5FA9"/>
          </a:solidFill>
          <a:ln/>
        </p:spPr>
      </p:sp>
      <p:sp>
        <p:nvSpPr>
          <p:cNvPr id="10" name="Text 8"/>
          <p:cNvSpPr txBox="1"/>
          <p:nvPr/>
        </p:nvSpPr>
        <p:spPr>
          <a:xfrm>
            <a:off x="6876288" y="1700784"/>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get_policy_section</a:t>
            </a:r>
            <a:endParaRPr lang="en-US" sz="1300" dirty="0"/>
          </a:p>
        </p:txBody>
      </p:sp>
      <p:sp>
        <p:nvSpPr>
          <p:cNvPr id="11" name="Text 9"/>
          <p:cNvSpPr txBox="1"/>
          <p:nvPr/>
        </p:nvSpPr>
        <p:spPr>
          <a:xfrm>
            <a:off x="6876288" y="2011680"/>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Exact fetch by document and section</a:t>
            </a:r>
            <a:endParaRPr lang="en-US" sz="1150" dirty="0"/>
          </a:p>
        </p:txBody>
      </p:sp>
      <p:sp>
        <p:nvSpPr>
          <p:cNvPr id="12" name="Shape 10"/>
          <p:cNvSpPr/>
          <p:nvPr/>
        </p:nvSpPr>
        <p:spPr>
          <a:xfrm>
            <a:off x="548640" y="2542032"/>
            <a:ext cx="5349240" cy="804672"/>
          </a:xfrm>
          <a:prstGeom prst="roundRect">
            <a:avLst>
              <a:gd name="adj" fmla="val 9091"/>
            </a:avLst>
          </a:prstGeom>
          <a:solidFill>
            <a:srgbClr val="FFFFFF"/>
          </a:solidFill>
          <a:ln w="12700">
            <a:solidFill>
              <a:srgbClr val="DFE3E8"/>
            </a:solidFill>
            <a:prstDash val="solid"/>
          </a:ln>
        </p:spPr>
      </p:sp>
      <p:sp>
        <p:nvSpPr>
          <p:cNvPr id="13" name="Shape 11"/>
          <p:cNvSpPr/>
          <p:nvPr/>
        </p:nvSpPr>
        <p:spPr>
          <a:xfrm>
            <a:off x="749808" y="2779776"/>
            <a:ext cx="329184" cy="329184"/>
          </a:xfrm>
          <a:prstGeom prst="ellipse">
            <a:avLst/>
          </a:prstGeom>
          <a:solidFill>
            <a:srgbClr val="1E2761"/>
          </a:solidFill>
          <a:ln/>
        </p:spPr>
      </p:sp>
      <p:sp>
        <p:nvSpPr>
          <p:cNvPr id="14" name="Text 12"/>
          <p:cNvSpPr txBox="1"/>
          <p:nvPr/>
        </p:nvSpPr>
        <p:spPr>
          <a:xfrm>
            <a:off x="1207008" y="2642616"/>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lookup_employee_profile</a:t>
            </a:r>
            <a:endParaRPr lang="en-US" sz="1300" dirty="0"/>
          </a:p>
        </p:txBody>
      </p:sp>
      <p:sp>
        <p:nvSpPr>
          <p:cNvPr id="15" name="Text 13"/>
          <p:cNvSpPr txBox="1"/>
          <p:nvPr/>
        </p:nvSpPr>
        <p:spPr>
          <a:xfrm>
            <a:off x="1207008" y="2953512"/>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Role, hours, tenure, probation</a:t>
            </a:r>
            <a:endParaRPr lang="en-US" sz="1150" dirty="0"/>
          </a:p>
        </p:txBody>
      </p:sp>
      <p:sp>
        <p:nvSpPr>
          <p:cNvPr id="16" name="Shape 14"/>
          <p:cNvSpPr/>
          <p:nvPr/>
        </p:nvSpPr>
        <p:spPr>
          <a:xfrm>
            <a:off x="6217920" y="2542032"/>
            <a:ext cx="5349240" cy="804672"/>
          </a:xfrm>
          <a:prstGeom prst="roundRect">
            <a:avLst>
              <a:gd name="adj" fmla="val 9091"/>
            </a:avLst>
          </a:prstGeom>
          <a:solidFill>
            <a:srgbClr val="FFFFFF"/>
          </a:solidFill>
          <a:ln w="12700">
            <a:solidFill>
              <a:srgbClr val="DFE3E8"/>
            </a:solidFill>
            <a:prstDash val="solid"/>
          </a:ln>
        </p:spPr>
      </p:sp>
      <p:sp>
        <p:nvSpPr>
          <p:cNvPr id="17" name="Shape 15"/>
          <p:cNvSpPr/>
          <p:nvPr/>
        </p:nvSpPr>
        <p:spPr>
          <a:xfrm>
            <a:off x="6419088" y="2779776"/>
            <a:ext cx="329184" cy="329184"/>
          </a:xfrm>
          <a:prstGeom prst="ellipse">
            <a:avLst/>
          </a:prstGeom>
          <a:solidFill>
            <a:srgbClr val="1E2761"/>
          </a:solidFill>
          <a:ln/>
        </p:spPr>
      </p:sp>
      <p:sp>
        <p:nvSpPr>
          <p:cNvPr id="18" name="Text 16"/>
          <p:cNvSpPr txBox="1"/>
          <p:nvPr/>
        </p:nvSpPr>
        <p:spPr>
          <a:xfrm>
            <a:off x="6876288" y="2642616"/>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check_pto_balance</a:t>
            </a:r>
            <a:endParaRPr lang="en-US" sz="1300" dirty="0"/>
          </a:p>
        </p:txBody>
      </p:sp>
      <p:sp>
        <p:nvSpPr>
          <p:cNvPr id="19" name="Text 17"/>
          <p:cNvSpPr txBox="1"/>
          <p:nvPr/>
        </p:nvSpPr>
        <p:spPr>
          <a:xfrm>
            <a:off x="6876288" y="2953512"/>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Balances, carryover, pending requests</a:t>
            </a:r>
            <a:endParaRPr lang="en-US" sz="1150" dirty="0"/>
          </a:p>
        </p:txBody>
      </p:sp>
      <p:sp>
        <p:nvSpPr>
          <p:cNvPr id="20" name="Shape 18"/>
          <p:cNvSpPr/>
          <p:nvPr/>
        </p:nvSpPr>
        <p:spPr>
          <a:xfrm>
            <a:off x="548640" y="3483864"/>
            <a:ext cx="5349240" cy="804672"/>
          </a:xfrm>
          <a:prstGeom prst="roundRect">
            <a:avLst>
              <a:gd name="adj" fmla="val 9091"/>
            </a:avLst>
          </a:prstGeom>
          <a:solidFill>
            <a:srgbClr val="FFFFFF"/>
          </a:solidFill>
          <a:ln w="12700">
            <a:solidFill>
              <a:srgbClr val="DFE3E8"/>
            </a:solidFill>
            <a:prstDash val="solid"/>
          </a:ln>
        </p:spPr>
      </p:sp>
      <p:sp>
        <p:nvSpPr>
          <p:cNvPr id="21" name="Shape 19"/>
          <p:cNvSpPr/>
          <p:nvPr/>
        </p:nvSpPr>
        <p:spPr>
          <a:xfrm>
            <a:off x="749808" y="3721608"/>
            <a:ext cx="329184" cy="329184"/>
          </a:xfrm>
          <a:prstGeom prst="ellipse">
            <a:avLst/>
          </a:prstGeom>
          <a:solidFill>
            <a:srgbClr val="1E2761"/>
          </a:solidFill>
          <a:ln/>
        </p:spPr>
      </p:sp>
      <p:sp>
        <p:nvSpPr>
          <p:cNvPr id="22" name="Text 20"/>
          <p:cNvSpPr txBox="1"/>
          <p:nvPr/>
        </p:nvSpPr>
        <p:spPr>
          <a:xfrm>
            <a:off x="1207008" y="3584448"/>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lookup_benefits_status</a:t>
            </a:r>
            <a:endParaRPr lang="en-US" sz="1300" dirty="0"/>
          </a:p>
        </p:txBody>
      </p:sp>
      <p:sp>
        <p:nvSpPr>
          <p:cNvPr id="23" name="Text 21"/>
          <p:cNvSpPr txBox="1"/>
          <p:nvPr/>
        </p:nvSpPr>
        <p:spPr>
          <a:xfrm>
            <a:off x="1207008" y="3895344"/>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Enrolment and eligibility tests</a:t>
            </a:r>
            <a:endParaRPr lang="en-US" sz="1150" dirty="0"/>
          </a:p>
        </p:txBody>
      </p:sp>
      <p:sp>
        <p:nvSpPr>
          <p:cNvPr id="24" name="Shape 22"/>
          <p:cNvSpPr/>
          <p:nvPr/>
        </p:nvSpPr>
        <p:spPr>
          <a:xfrm>
            <a:off x="6217920" y="3483864"/>
            <a:ext cx="5349240" cy="804672"/>
          </a:xfrm>
          <a:prstGeom prst="roundRect">
            <a:avLst>
              <a:gd name="adj" fmla="val 9091"/>
            </a:avLst>
          </a:prstGeom>
          <a:solidFill>
            <a:srgbClr val="FFFFFF"/>
          </a:solidFill>
          <a:ln w="12700">
            <a:solidFill>
              <a:srgbClr val="DFE3E8"/>
            </a:solidFill>
            <a:prstDash val="solid"/>
          </a:ln>
        </p:spPr>
      </p:sp>
      <p:sp>
        <p:nvSpPr>
          <p:cNvPr id="25" name="Shape 23"/>
          <p:cNvSpPr/>
          <p:nvPr/>
        </p:nvSpPr>
        <p:spPr>
          <a:xfrm>
            <a:off x="6419088" y="3721608"/>
            <a:ext cx="329184" cy="329184"/>
          </a:xfrm>
          <a:prstGeom prst="ellipse">
            <a:avLst/>
          </a:prstGeom>
          <a:solidFill>
            <a:srgbClr val="1E2761"/>
          </a:solidFill>
          <a:ln/>
        </p:spPr>
      </p:sp>
      <p:sp>
        <p:nvSpPr>
          <p:cNvPr id="26" name="Text 24"/>
          <p:cNvSpPr txBox="1"/>
          <p:nvPr/>
        </p:nvSpPr>
        <p:spPr>
          <a:xfrm>
            <a:off x="6876288" y="3584448"/>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check_policy_compliance</a:t>
            </a:r>
            <a:endParaRPr lang="en-US" sz="1300" dirty="0"/>
          </a:p>
        </p:txBody>
      </p:sp>
      <p:sp>
        <p:nvSpPr>
          <p:cNvPr id="27" name="Text 25"/>
          <p:cNvSpPr txBox="1"/>
          <p:nvPr/>
        </p:nvSpPr>
        <p:spPr>
          <a:xfrm>
            <a:off x="6876288" y="3895344"/>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Assembles evidence, not a verdict</a:t>
            </a:r>
            <a:endParaRPr lang="en-US" sz="1150" dirty="0"/>
          </a:p>
        </p:txBody>
      </p:sp>
      <p:sp>
        <p:nvSpPr>
          <p:cNvPr id="28" name="Shape 26"/>
          <p:cNvSpPr/>
          <p:nvPr/>
        </p:nvSpPr>
        <p:spPr>
          <a:xfrm>
            <a:off x="548640" y="4425696"/>
            <a:ext cx="5349240" cy="804672"/>
          </a:xfrm>
          <a:prstGeom prst="roundRect">
            <a:avLst>
              <a:gd name="adj" fmla="val 9091"/>
            </a:avLst>
          </a:prstGeom>
          <a:solidFill>
            <a:srgbClr val="FFFFFF"/>
          </a:solidFill>
          <a:ln w="12700">
            <a:solidFill>
              <a:srgbClr val="DFE3E8"/>
            </a:solidFill>
            <a:prstDash val="solid"/>
          </a:ln>
        </p:spPr>
      </p:sp>
      <p:sp>
        <p:nvSpPr>
          <p:cNvPr id="29" name="Shape 27"/>
          <p:cNvSpPr/>
          <p:nvPr/>
        </p:nvSpPr>
        <p:spPr>
          <a:xfrm>
            <a:off x="749808" y="4663440"/>
            <a:ext cx="329184" cy="329184"/>
          </a:xfrm>
          <a:prstGeom prst="ellipse">
            <a:avLst/>
          </a:prstGeom>
          <a:solidFill>
            <a:srgbClr val="2C5F2D"/>
          </a:solidFill>
          <a:ln/>
        </p:spPr>
      </p:sp>
      <p:sp>
        <p:nvSpPr>
          <p:cNvPr id="30" name="Text 28"/>
          <p:cNvSpPr txBox="1"/>
          <p:nvPr/>
        </p:nvSpPr>
        <p:spPr>
          <a:xfrm>
            <a:off x="1207008" y="4526280"/>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draft_hr_email</a:t>
            </a:r>
            <a:endParaRPr lang="en-US" sz="1300" dirty="0"/>
          </a:p>
        </p:txBody>
      </p:sp>
      <p:sp>
        <p:nvSpPr>
          <p:cNvPr id="31" name="Text 29"/>
          <p:cNvSpPr txBox="1"/>
          <p:nvPr/>
        </p:nvSpPr>
        <p:spPr>
          <a:xfrm>
            <a:off x="1207008" y="4837176"/>
            <a:ext cx="4572000" cy="292608"/>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Composes text — sends nothing</a:t>
            </a:r>
            <a:endParaRPr lang="en-US" sz="1150" dirty="0"/>
          </a:p>
        </p:txBody>
      </p:sp>
      <p:sp>
        <p:nvSpPr>
          <p:cNvPr id="32" name="Shape 30"/>
          <p:cNvSpPr/>
          <p:nvPr/>
        </p:nvSpPr>
        <p:spPr>
          <a:xfrm>
            <a:off x="6217920" y="4425696"/>
            <a:ext cx="5349240" cy="804672"/>
          </a:xfrm>
          <a:prstGeom prst="roundRect">
            <a:avLst>
              <a:gd name="adj" fmla="val 9091"/>
            </a:avLst>
          </a:prstGeom>
          <a:solidFill>
            <a:srgbClr val="FDF3E3"/>
          </a:solidFill>
          <a:ln w="12700">
            <a:solidFill>
              <a:srgbClr val="E3B980"/>
            </a:solidFill>
            <a:prstDash val="solid"/>
          </a:ln>
        </p:spPr>
      </p:sp>
      <p:sp>
        <p:nvSpPr>
          <p:cNvPr id="33" name="Shape 31"/>
          <p:cNvSpPr/>
          <p:nvPr/>
        </p:nvSpPr>
        <p:spPr>
          <a:xfrm>
            <a:off x="6419088" y="4663440"/>
            <a:ext cx="329184" cy="329184"/>
          </a:xfrm>
          <a:prstGeom prst="ellipse">
            <a:avLst/>
          </a:prstGeom>
          <a:solidFill>
            <a:srgbClr val="B8770A"/>
          </a:solidFill>
          <a:ln/>
        </p:spPr>
      </p:sp>
      <p:sp>
        <p:nvSpPr>
          <p:cNvPr id="34" name="Text 32"/>
          <p:cNvSpPr txBox="1"/>
          <p:nvPr/>
        </p:nvSpPr>
        <p:spPr>
          <a:xfrm>
            <a:off x="6876288" y="4526280"/>
            <a:ext cx="4572000" cy="301752"/>
          </a:xfrm>
          <a:prstGeom prst="rect">
            <a:avLst/>
          </a:prstGeom>
          <a:noFill/>
          <a:ln/>
        </p:spPr>
        <p:txBody>
          <a:bodyPr wrap="square" lIns="0" tIns="0" rIns="0" bIns="0" rtlCol="0" anchor="ctr"/>
          <a:lstStyle/>
          <a:p>
            <a:pPr indent="0" marL="0">
              <a:buNone/>
            </a:pPr>
            <a:r>
              <a:rPr lang="en-US" sz="1300" b="1" dirty="0">
                <a:solidFill>
                  <a:srgbClr val="1B1F24"/>
                </a:solidFill>
                <a:latin typeface="Consolas" pitchFamily="34" charset="0"/>
                <a:ea typeface="Consolas" pitchFamily="34" charset="-122"/>
                <a:cs typeface="Consolas" pitchFamily="34" charset="-120"/>
              </a:rPr>
              <a:t>create_mock_hr_ticket</a:t>
            </a:r>
            <a:endParaRPr lang="en-US" sz="1300" dirty="0"/>
          </a:p>
        </p:txBody>
      </p:sp>
      <p:sp>
        <p:nvSpPr>
          <p:cNvPr id="35" name="Text 33"/>
          <p:cNvSpPr txBox="1"/>
          <p:nvPr/>
        </p:nvSpPr>
        <p:spPr>
          <a:xfrm>
            <a:off x="6876288" y="4837176"/>
            <a:ext cx="4572000" cy="292608"/>
          </a:xfrm>
          <a:prstGeom prst="rect">
            <a:avLst/>
          </a:prstGeom>
          <a:noFill/>
          <a:ln/>
        </p:spPr>
        <p:txBody>
          <a:bodyPr wrap="square" lIns="0" tIns="0" rIns="0" bIns="0" rtlCol="0" anchor="ctr"/>
          <a:lstStyle/>
          <a:p>
            <a:pPr indent="0" marL="0">
              <a:buNone/>
            </a:pPr>
            <a:r>
              <a:rPr lang="en-US" sz="1150" dirty="0">
                <a:solidFill>
                  <a:srgbClr val="B8770A"/>
                </a:solidFill>
                <a:latin typeface="Calibri" pitchFamily="34" charset="0"/>
                <a:ea typeface="Calibri" pitchFamily="34" charset="-122"/>
                <a:cs typeface="Calibri" pitchFamily="34" charset="-120"/>
              </a:rPr>
              <a:t>WRITES DATA — refuses without confirmation</a:t>
            </a:r>
            <a:endParaRPr lang="en-US" sz="1150" dirty="0"/>
          </a:p>
        </p:txBody>
      </p:sp>
      <p:sp>
        <p:nvSpPr>
          <p:cNvPr id="36" name="Text 34"/>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1300" i="1" dirty="0">
                <a:solidFill>
                  <a:srgbClr val="5B6672"/>
                </a:solidFill>
                <a:latin typeface="Calibri" pitchFamily="34" charset="0"/>
                <a:ea typeface="Calibri" pitchFamily="34" charset="-122"/>
                <a:cs typeface="Calibri" pitchFamily="34" charset="-120"/>
              </a:rPr>
              <a:t>Tool errors are returned, not raised. An unknown employee ID comes back as data with the valid IDs attached — so the agent asks a clarifying question instead of failing.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1371600" cy="384048"/>
          </a:xfrm>
          <a:prstGeom prst="roundRect">
            <a:avLst>
              <a:gd name="adj" fmla="val 28571"/>
            </a:avLst>
          </a:prstGeom>
          <a:solidFill>
            <a:srgbClr val="1F5FA9"/>
          </a:solidFill>
          <a:ln/>
        </p:spPr>
      </p:sp>
      <p:sp>
        <p:nvSpPr>
          <p:cNvPr id="3" name="Text 1"/>
          <p:cNvSpPr txBox="1"/>
          <p:nvPr/>
        </p:nvSpPr>
        <p:spPr>
          <a:xfrm>
            <a:off x="822960" y="777240"/>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DEMO</a:t>
            </a:r>
            <a:endParaRPr lang="en-US" sz="1200" dirty="0"/>
          </a:p>
        </p:txBody>
      </p:sp>
      <p:sp>
        <p:nvSpPr>
          <p:cNvPr id="4" name="Text 2"/>
          <p:cNvSpPr txBox="1"/>
          <p:nvPr/>
        </p:nvSpPr>
        <p:spPr>
          <a:xfrm>
            <a:off x="822960" y="137160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Task 1 — a grounded refusal</a:t>
            </a:r>
            <a:endParaRPr lang="en-US" sz="3400" dirty="0"/>
          </a:p>
        </p:txBody>
      </p:sp>
      <p:sp>
        <p:nvSpPr>
          <p:cNvPr id="5" name="Text 3"/>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“I'm EMP-101. Can I work from Spain for six weeks?”</a:t>
            </a:r>
            <a:endParaRPr lang="en-US" sz="2000" dirty="0"/>
          </a:p>
        </p:txBody>
      </p:sp>
      <p:sp>
        <p:nvSpPr>
          <p:cNvPr id="6" name="Shape 4"/>
          <p:cNvSpPr/>
          <p:nvPr/>
        </p:nvSpPr>
        <p:spPr>
          <a:xfrm>
            <a:off x="868680" y="3090672"/>
            <a:ext cx="146304" cy="146304"/>
          </a:xfrm>
          <a:prstGeom prst="ellipse">
            <a:avLst/>
          </a:prstGeom>
          <a:solidFill>
            <a:srgbClr val="CADCFC"/>
          </a:solidFill>
          <a:ln/>
        </p:spPr>
      </p:sp>
      <p:sp>
        <p:nvSpPr>
          <p:cNvPr id="7" name="Text 5"/>
          <p:cNvSpPr txBox="1"/>
          <p:nvPr/>
        </p:nvSpPr>
        <p:spPr>
          <a:xfrm>
            <a:off x="1234440" y="3017520"/>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Two tools</a:t>
            </a:r>
            <a:endParaRPr lang="en-US" sz="1500" dirty="0"/>
          </a:p>
        </p:txBody>
      </p:sp>
      <p:sp>
        <p:nvSpPr>
          <p:cNvPr id="8" name="Text 6"/>
          <p:cNvSpPr txBox="1"/>
          <p:nvPr/>
        </p:nvSpPr>
        <p:spPr>
          <a:xfrm>
            <a:off x="4297680" y="3017520"/>
            <a:ext cx="704088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searches policy, then looks up who EMP-101 actually is</a:t>
            </a:r>
            <a:endParaRPr lang="en-US" sz="1400" dirty="0"/>
          </a:p>
        </p:txBody>
      </p:sp>
      <p:sp>
        <p:nvSpPr>
          <p:cNvPr id="9" name="Shape 7"/>
          <p:cNvSpPr/>
          <p:nvPr/>
        </p:nvSpPr>
        <p:spPr>
          <a:xfrm>
            <a:off x="868680" y="3749040"/>
            <a:ext cx="146304" cy="146304"/>
          </a:xfrm>
          <a:prstGeom prst="ellipse">
            <a:avLst/>
          </a:prstGeom>
          <a:solidFill>
            <a:srgbClr val="CADCFC"/>
          </a:solidFill>
          <a:ln/>
        </p:spPr>
      </p:sp>
      <p:sp>
        <p:nvSpPr>
          <p:cNvPr id="10" name="Text 8"/>
          <p:cNvSpPr txBox="1"/>
          <p:nvPr/>
        </p:nvSpPr>
        <p:spPr>
          <a:xfrm>
            <a:off x="1234440" y="3675888"/>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Two independent blockers</a:t>
            </a:r>
            <a:endParaRPr lang="en-US" sz="1500" dirty="0"/>
          </a:p>
        </p:txBody>
      </p:sp>
      <p:sp>
        <p:nvSpPr>
          <p:cNvPr id="11" name="Text 9"/>
          <p:cNvSpPr txBox="1"/>
          <p:nvPr/>
        </p:nvSpPr>
        <p:spPr>
          <a:xfrm>
            <a:off x="4297680" y="3675888"/>
            <a:ext cx="704088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Spain is not an approved country, AND six weeks exceeds the 30-day cap</a:t>
            </a:r>
            <a:endParaRPr lang="en-US" sz="1400" dirty="0"/>
          </a:p>
        </p:txBody>
      </p:sp>
      <p:sp>
        <p:nvSpPr>
          <p:cNvPr id="12" name="Shape 10"/>
          <p:cNvSpPr/>
          <p:nvPr/>
        </p:nvSpPr>
        <p:spPr>
          <a:xfrm>
            <a:off x="868680" y="4407408"/>
            <a:ext cx="146304" cy="146304"/>
          </a:xfrm>
          <a:prstGeom prst="ellipse">
            <a:avLst/>
          </a:prstGeom>
          <a:solidFill>
            <a:srgbClr val="CADCFC"/>
          </a:solidFill>
          <a:ln/>
        </p:spPr>
      </p:sp>
      <p:sp>
        <p:nvSpPr>
          <p:cNvPr id="13" name="Text 11"/>
          <p:cNvSpPr txBox="1"/>
          <p:nvPr/>
        </p:nvSpPr>
        <p:spPr>
          <a:xfrm>
            <a:off x="1234440" y="4334256"/>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Cited, not asserted</a:t>
            </a:r>
            <a:endParaRPr lang="en-US" sz="1500" dirty="0"/>
          </a:p>
        </p:txBody>
      </p:sp>
      <p:sp>
        <p:nvSpPr>
          <p:cNvPr id="14" name="Text 12"/>
          <p:cNvSpPr txBox="1"/>
          <p:nvPr/>
        </p:nvSpPr>
        <p:spPr>
          <a:xfrm>
            <a:off x="4297680" y="4334256"/>
            <a:ext cx="704088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rule resolves to a section you can open</a:t>
            </a:r>
            <a:endParaRPr lang="en-US" sz="1400" dirty="0"/>
          </a:p>
        </p:txBody>
      </p:sp>
      <p:sp>
        <p:nvSpPr>
          <p:cNvPr id="15" name="Shape 13"/>
          <p:cNvSpPr/>
          <p:nvPr/>
        </p:nvSpPr>
        <p:spPr>
          <a:xfrm>
            <a:off x="868680" y="5065776"/>
            <a:ext cx="146304" cy="146304"/>
          </a:xfrm>
          <a:prstGeom prst="ellipse">
            <a:avLst/>
          </a:prstGeom>
          <a:solidFill>
            <a:srgbClr val="CADCFC"/>
          </a:solidFill>
          <a:ln/>
        </p:spPr>
      </p:sp>
      <p:sp>
        <p:nvSpPr>
          <p:cNvPr id="16" name="Text 14"/>
          <p:cNvSpPr txBox="1"/>
          <p:nvPr/>
        </p:nvSpPr>
        <p:spPr>
          <a:xfrm>
            <a:off x="1234440" y="4992624"/>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Offers alternatives</a:t>
            </a:r>
            <a:endParaRPr lang="en-US" sz="1500" dirty="0"/>
          </a:p>
        </p:txBody>
      </p:sp>
      <p:sp>
        <p:nvSpPr>
          <p:cNvPr id="17" name="Text 15"/>
          <p:cNvSpPr txBox="1"/>
          <p:nvPr/>
        </p:nvSpPr>
        <p:spPr>
          <a:xfrm>
            <a:off x="4297680" y="4992624"/>
            <a:ext cx="704088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refusal that still helps</a:t>
            </a:r>
            <a:endParaRPr lang="en-US" sz="1400" dirty="0"/>
          </a:p>
        </p:txBody>
      </p:sp>
      <p:sp>
        <p:nvSpPr>
          <p:cNvPr id="18" name="Text 16"/>
          <p:cNvSpPr txBox="1"/>
          <p:nvPr/>
        </p:nvSpPr>
        <p:spPr>
          <a:xfrm>
            <a:off x="822960" y="5852160"/>
            <a:ext cx="10515600" cy="32004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Open the Tool calls and Sources panels — that is where the agency is visible.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1371600" cy="384048"/>
          </a:xfrm>
          <a:prstGeom prst="roundRect">
            <a:avLst>
              <a:gd name="adj" fmla="val 28571"/>
            </a:avLst>
          </a:prstGeom>
          <a:solidFill>
            <a:srgbClr val="1F5FA9"/>
          </a:solidFill>
          <a:ln/>
        </p:spPr>
      </p:sp>
      <p:sp>
        <p:nvSpPr>
          <p:cNvPr id="3" name="Text 1"/>
          <p:cNvSpPr txBox="1"/>
          <p:nvPr/>
        </p:nvSpPr>
        <p:spPr>
          <a:xfrm>
            <a:off x="822960" y="777240"/>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DEMO</a:t>
            </a:r>
            <a:endParaRPr lang="en-US" sz="1200" dirty="0"/>
          </a:p>
        </p:txBody>
      </p:sp>
      <p:sp>
        <p:nvSpPr>
          <p:cNvPr id="4" name="Text 2"/>
          <p:cNvSpPr txBox="1"/>
          <p:nvPr/>
        </p:nvSpPr>
        <p:spPr>
          <a:xfrm>
            <a:off x="822960" y="137160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Task 2 — multi-step, ending in a write</a:t>
            </a:r>
            <a:endParaRPr lang="en-US" sz="3400" dirty="0"/>
          </a:p>
        </p:txBody>
      </p:sp>
      <p:sp>
        <p:nvSpPr>
          <p:cNvPr id="5" name="Shape 3"/>
          <p:cNvSpPr/>
          <p:nvPr/>
        </p:nvSpPr>
        <p:spPr>
          <a:xfrm>
            <a:off x="822960" y="2240280"/>
            <a:ext cx="457200" cy="457200"/>
          </a:xfrm>
          <a:prstGeom prst="roundRect">
            <a:avLst>
              <a:gd name="adj" fmla="val 20000"/>
            </a:avLst>
          </a:prstGeom>
          <a:solidFill>
            <a:srgbClr val="CADCFC"/>
          </a:solidFill>
          <a:ln/>
        </p:spPr>
      </p:sp>
      <p:sp>
        <p:nvSpPr>
          <p:cNvPr id="6" name="Text 4"/>
          <p:cNvSpPr txBox="1"/>
          <p:nvPr/>
        </p:nvSpPr>
        <p:spPr>
          <a:xfrm>
            <a:off x="822960" y="2240280"/>
            <a:ext cx="4572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63040" y="2221992"/>
            <a:ext cx="9966960" cy="347472"/>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“I'm EMP-102 and I'd like to take 3 days off next week.”</a:t>
            </a:r>
            <a:endParaRPr lang="en-US" sz="1600" dirty="0"/>
          </a:p>
        </p:txBody>
      </p:sp>
      <p:sp>
        <p:nvSpPr>
          <p:cNvPr id="8" name="Text 6"/>
          <p:cNvSpPr txBox="1"/>
          <p:nvPr/>
        </p:nvSpPr>
        <p:spPr>
          <a:xfrm>
            <a:off x="1463040" y="2587752"/>
            <a:ext cx="9966960" cy="45720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Declined — but the balance is fine. It fails on probation (day 60 of 91) and on notice.</a:t>
            </a:r>
            <a:endParaRPr lang="en-US" sz="1350" dirty="0"/>
          </a:p>
        </p:txBody>
      </p:sp>
      <p:sp>
        <p:nvSpPr>
          <p:cNvPr id="9" name="Shape 7"/>
          <p:cNvSpPr/>
          <p:nvPr/>
        </p:nvSpPr>
        <p:spPr>
          <a:xfrm>
            <a:off x="822960" y="3291840"/>
            <a:ext cx="457200" cy="457200"/>
          </a:xfrm>
          <a:prstGeom prst="roundRect">
            <a:avLst>
              <a:gd name="adj" fmla="val 20000"/>
            </a:avLst>
          </a:prstGeom>
          <a:solidFill>
            <a:srgbClr val="CADCFC"/>
          </a:solidFill>
          <a:ln/>
        </p:spPr>
      </p:sp>
      <p:sp>
        <p:nvSpPr>
          <p:cNvPr id="10" name="Text 8"/>
          <p:cNvSpPr txBox="1"/>
          <p:nvPr/>
        </p:nvSpPr>
        <p:spPr>
          <a:xfrm>
            <a:off x="822960" y="3291840"/>
            <a:ext cx="4572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463040" y="3273552"/>
            <a:ext cx="9966960" cy="347472"/>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“Then please raise an HR ticket about unpaid leave.”</a:t>
            </a:r>
            <a:endParaRPr lang="en-US" sz="1600" dirty="0"/>
          </a:p>
        </p:txBody>
      </p:sp>
      <p:sp>
        <p:nvSpPr>
          <p:cNvPr id="12" name="Text 10"/>
          <p:cNvSpPr txBox="1"/>
          <p:nvPr/>
        </p:nvSpPr>
        <p:spPr>
          <a:xfrm>
            <a:off x="1463040" y="3639312"/>
            <a:ext cx="9966960" cy="45720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Shows exactly what it would create, and asks. Nothing has been written.</a:t>
            </a:r>
            <a:endParaRPr lang="en-US" sz="1350" dirty="0"/>
          </a:p>
        </p:txBody>
      </p:sp>
      <p:sp>
        <p:nvSpPr>
          <p:cNvPr id="13" name="Shape 11"/>
          <p:cNvSpPr/>
          <p:nvPr/>
        </p:nvSpPr>
        <p:spPr>
          <a:xfrm>
            <a:off x="822960" y="4343400"/>
            <a:ext cx="457200" cy="457200"/>
          </a:xfrm>
          <a:prstGeom prst="roundRect">
            <a:avLst>
              <a:gd name="adj" fmla="val 20000"/>
            </a:avLst>
          </a:prstGeom>
          <a:solidFill>
            <a:srgbClr val="CADCFC"/>
          </a:solidFill>
          <a:ln/>
        </p:spPr>
      </p:sp>
      <p:sp>
        <p:nvSpPr>
          <p:cNvPr id="14" name="Text 12"/>
          <p:cNvSpPr txBox="1"/>
          <p:nvPr/>
        </p:nvSpPr>
        <p:spPr>
          <a:xfrm>
            <a:off x="822960" y="4343400"/>
            <a:ext cx="457200" cy="45720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463040" y="4325112"/>
            <a:ext cx="9966960" cy="347472"/>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“Yes, go ahead.”</a:t>
            </a:r>
            <a:endParaRPr lang="en-US" sz="1600" dirty="0"/>
          </a:p>
        </p:txBody>
      </p:sp>
      <p:sp>
        <p:nvSpPr>
          <p:cNvPr id="16" name="Text 14"/>
          <p:cNvSpPr txBox="1"/>
          <p:nvPr/>
        </p:nvSpPr>
        <p:spPr>
          <a:xfrm>
            <a:off x="1463040" y="4690872"/>
            <a:ext cx="9966960" cy="45720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Ticket created. The trace shows create_mock_hr_ticket firing.</a:t>
            </a:r>
            <a:endParaRPr lang="en-US" sz="1350" dirty="0"/>
          </a:p>
        </p:txBody>
      </p:sp>
      <p:sp>
        <p:nvSpPr>
          <p:cNvPr id="17" name="Shape 15"/>
          <p:cNvSpPr/>
          <p:nvPr/>
        </p:nvSpPr>
        <p:spPr>
          <a:xfrm>
            <a:off x="822960" y="5486400"/>
            <a:ext cx="10561320" cy="777240"/>
          </a:xfrm>
          <a:prstGeom prst="roundRect">
            <a:avLst>
              <a:gd name="adj" fmla="val 11765"/>
            </a:avLst>
          </a:prstGeom>
          <a:solidFill>
            <a:srgbClr val="2C3A7A"/>
          </a:solidFill>
          <a:ln/>
        </p:spPr>
      </p:sp>
      <p:sp>
        <p:nvSpPr>
          <p:cNvPr id="18" name="Text 16"/>
          <p:cNvSpPr txBox="1"/>
          <p:nvPr/>
        </p:nvSpPr>
        <p:spPr>
          <a:xfrm>
            <a:off x="1097280" y="5596128"/>
            <a:ext cx="10058400" cy="566928"/>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confirmation gate lives in the MCP tool, not the prompt — so it holds even if the model skips asking. A guardrail that exists only in a system prompt is one jailbreak away from being gone.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Four guardrails, and where each one lives</a:t>
            </a:r>
            <a:endParaRPr lang="en-US" sz="3200" dirty="0"/>
          </a:p>
        </p:txBody>
      </p:sp>
      <p:sp>
        <p:nvSpPr>
          <p:cNvPr id="4" name="Shape 2"/>
          <p:cNvSpPr/>
          <p:nvPr/>
        </p:nvSpPr>
        <p:spPr>
          <a:xfrm>
            <a:off x="548640" y="1645920"/>
            <a:ext cx="11064240" cy="960120"/>
          </a:xfrm>
          <a:prstGeom prst="roundRect">
            <a:avLst>
              <a:gd name="adj" fmla="val 7619"/>
            </a:avLst>
          </a:prstGeom>
          <a:solidFill>
            <a:srgbClr val="EEF3FA"/>
          </a:solidFill>
          <a:ln w="12700">
            <a:solidFill>
              <a:srgbClr val="DFE3E8"/>
            </a:solidFill>
            <a:prstDash val="solid"/>
          </a:ln>
        </p:spPr>
      </p:sp>
      <p:sp>
        <p:nvSpPr>
          <p:cNvPr id="5" name="Shape 3"/>
          <p:cNvSpPr/>
          <p:nvPr/>
        </p:nvSpPr>
        <p:spPr>
          <a:xfrm>
            <a:off x="777240" y="1920240"/>
            <a:ext cx="411480" cy="411480"/>
          </a:xfrm>
          <a:prstGeom prst="ellipse">
            <a:avLst/>
          </a:prstGeom>
          <a:solidFill>
            <a:srgbClr val="B8770A"/>
          </a:solidFill>
          <a:ln/>
        </p:spPr>
      </p:sp>
      <p:sp>
        <p:nvSpPr>
          <p:cNvPr id="6" name="Text 4"/>
          <p:cNvSpPr txBox="1"/>
          <p:nvPr/>
        </p:nvSpPr>
        <p:spPr>
          <a:xfrm>
            <a:off x="1371600" y="1810512"/>
            <a:ext cx="3108960" cy="310896"/>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Write confirmation</a:t>
            </a:r>
            <a:endParaRPr lang="en-US" sz="1550" dirty="0"/>
          </a:p>
        </p:txBody>
      </p:sp>
      <p:sp>
        <p:nvSpPr>
          <p:cNvPr id="7" name="Shape 5"/>
          <p:cNvSpPr/>
          <p:nvPr/>
        </p:nvSpPr>
        <p:spPr>
          <a:xfrm>
            <a:off x="1371600" y="2157984"/>
            <a:ext cx="1234440" cy="274320"/>
          </a:xfrm>
          <a:prstGeom prst="roundRect">
            <a:avLst>
              <a:gd name="adj" fmla="val 40000"/>
            </a:avLst>
          </a:prstGeom>
          <a:solidFill>
            <a:srgbClr val="B8770A"/>
          </a:solidFill>
          <a:ln/>
        </p:spPr>
      </p:sp>
      <p:sp>
        <p:nvSpPr>
          <p:cNvPr id="8" name="Text 6"/>
          <p:cNvSpPr txBox="1"/>
          <p:nvPr/>
        </p:nvSpPr>
        <p:spPr>
          <a:xfrm>
            <a:off x="1371600" y="215798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 the TOOL</a:t>
            </a:r>
            <a:endParaRPr lang="en-US" sz="1000" dirty="0"/>
          </a:p>
        </p:txBody>
      </p:sp>
      <p:sp>
        <p:nvSpPr>
          <p:cNvPr id="9" name="Text 7"/>
          <p:cNvSpPr txBox="1"/>
          <p:nvPr/>
        </p:nvSpPr>
        <p:spPr>
          <a:xfrm>
            <a:off x="4663440" y="1901952"/>
            <a:ext cx="6675120" cy="502920"/>
          </a:xfrm>
          <a:prstGeom prst="rect">
            <a:avLst/>
          </a:prstGeom>
          <a:noFill/>
          <a:ln/>
        </p:spPr>
        <p:txBody>
          <a:bodyPr wrap="square" lIns="0" tIns="0" rIns="0" bIns="0" rtlCol="0" anchor="ctr"/>
          <a:lstStyle/>
          <a:p>
            <a:pPr indent="0" marL="0">
              <a:lnSpc>
                <a:spcPct val="115000"/>
              </a:lnSpc>
              <a:buNone/>
            </a:pPr>
            <a:r>
              <a:rPr lang="en-US" sz="1300" dirty="0">
                <a:solidFill>
                  <a:srgbClr val="5B6672"/>
                </a:solidFill>
                <a:latin typeface="Calibri" pitchFamily="34" charset="0"/>
                <a:ea typeface="Calibri" pitchFamily="34" charset="-122"/>
                <a:cs typeface="Calibri" pitchFamily="34" charset="-120"/>
              </a:rPr>
              <a:t>create_mock_hr_ticket refuses without confirmed=true — survives a jailbroken prompt</a:t>
            </a:r>
            <a:endParaRPr lang="en-US" sz="1300" dirty="0"/>
          </a:p>
        </p:txBody>
      </p:sp>
      <p:sp>
        <p:nvSpPr>
          <p:cNvPr id="10" name="Shape 8"/>
          <p:cNvSpPr/>
          <p:nvPr/>
        </p:nvSpPr>
        <p:spPr>
          <a:xfrm>
            <a:off x="548640" y="2743200"/>
            <a:ext cx="11064240" cy="960120"/>
          </a:xfrm>
          <a:prstGeom prst="roundRect">
            <a:avLst>
              <a:gd name="adj" fmla="val 7619"/>
            </a:avLst>
          </a:prstGeom>
          <a:solidFill>
            <a:srgbClr val="EEF3FA"/>
          </a:solidFill>
          <a:ln w="12700">
            <a:solidFill>
              <a:srgbClr val="DFE3E8"/>
            </a:solidFill>
            <a:prstDash val="solid"/>
          </a:ln>
        </p:spPr>
      </p:sp>
      <p:sp>
        <p:nvSpPr>
          <p:cNvPr id="11" name="Shape 9"/>
          <p:cNvSpPr/>
          <p:nvPr/>
        </p:nvSpPr>
        <p:spPr>
          <a:xfrm>
            <a:off x="777240" y="3017520"/>
            <a:ext cx="411480" cy="411480"/>
          </a:xfrm>
          <a:prstGeom prst="ellipse">
            <a:avLst/>
          </a:prstGeom>
          <a:solidFill>
            <a:srgbClr val="1F5FA9"/>
          </a:solidFill>
          <a:ln/>
        </p:spPr>
      </p:sp>
      <p:sp>
        <p:nvSpPr>
          <p:cNvPr id="12" name="Text 10"/>
          <p:cNvSpPr txBox="1"/>
          <p:nvPr/>
        </p:nvSpPr>
        <p:spPr>
          <a:xfrm>
            <a:off x="1371600" y="2907792"/>
            <a:ext cx="3108960" cy="310896"/>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Out-of-corpus refusal</a:t>
            </a:r>
            <a:endParaRPr lang="en-US" sz="1550" dirty="0"/>
          </a:p>
        </p:txBody>
      </p:sp>
      <p:sp>
        <p:nvSpPr>
          <p:cNvPr id="13" name="Shape 11"/>
          <p:cNvSpPr/>
          <p:nvPr/>
        </p:nvSpPr>
        <p:spPr>
          <a:xfrm>
            <a:off x="1371600" y="3255264"/>
            <a:ext cx="1234440" cy="274320"/>
          </a:xfrm>
          <a:prstGeom prst="roundRect">
            <a:avLst>
              <a:gd name="adj" fmla="val 40000"/>
            </a:avLst>
          </a:prstGeom>
          <a:solidFill>
            <a:srgbClr val="1F5FA9"/>
          </a:solidFill>
          <a:ln/>
        </p:spPr>
      </p:sp>
      <p:sp>
        <p:nvSpPr>
          <p:cNvPr id="14" name="Text 12"/>
          <p:cNvSpPr txBox="1"/>
          <p:nvPr/>
        </p:nvSpPr>
        <p:spPr>
          <a:xfrm>
            <a:off x="1371600" y="325526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 retrieval</a:t>
            </a:r>
            <a:endParaRPr lang="en-US" sz="1000" dirty="0"/>
          </a:p>
        </p:txBody>
      </p:sp>
      <p:sp>
        <p:nvSpPr>
          <p:cNvPr id="15" name="Text 13"/>
          <p:cNvSpPr txBox="1"/>
          <p:nvPr/>
        </p:nvSpPr>
        <p:spPr>
          <a:xfrm>
            <a:off x="4663440" y="2999232"/>
            <a:ext cx="6675120" cy="502920"/>
          </a:xfrm>
          <a:prstGeom prst="rect">
            <a:avLst/>
          </a:prstGeom>
          <a:noFill/>
          <a:ln/>
        </p:spPr>
        <p:txBody>
          <a:bodyPr wrap="square" lIns="0" tIns="0" rIns="0" bIns="0" rtlCol="0" anchor="ctr"/>
          <a:lstStyle/>
          <a:p>
            <a:pPr indent="0" marL="0">
              <a:lnSpc>
                <a:spcPct val="115000"/>
              </a:lnSpc>
              <a:buNone/>
            </a:pPr>
            <a:r>
              <a:rPr lang="en-US" sz="1300" dirty="0">
                <a:solidFill>
                  <a:srgbClr val="5B6672"/>
                </a:solidFill>
                <a:latin typeface="Calibri" pitchFamily="34" charset="0"/>
                <a:ea typeface="Calibri" pitchFamily="34" charset="-122"/>
                <a:cs typeface="Calibri" pitchFamily="34" charset="-120"/>
              </a:rPr>
              <a:t>Search flags results below the in-corpus similarity range. “Do I get stock options?” → says no policy exists</a:t>
            </a:r>
            <a:endParaRPr lang="en-US" sz="1300" dirty="0"/>
          </a:p>
        </p:txBody>
      </p:sp>
      <p:sp>
        <p:nvSpPr>
          <p:cNvPr id="16" name="Shape 14"/>
          <p:cNvSpPr/>
          <p:nvPr/>
        </p:nvSpPr>
        <p:spPr>
          <a:xfrm>
            <a:off x="548640" y="3840480"/>
            <a:ext cx="11064240" cy="960120"/>
          </a:xfrm>
          <a:prstGeom prst="roundRect">
            <a:avLst>
              <a:gd name="adj" fmla="val 7619"/>
            </a:avLst>
          </a:prstGeom>
          <a:solidFill>
            <a:srgbClr val="EEF3FA"/>
          </a:solidFill>
          <a:ln w="12700">
            <a:solidFill>
              <a:srgbClr val="DFE3E8"/>
            </a:solidFill>
            <a:prstDash val="solid"/>
          </a:ln>
        </p:spPr>
      </p:sp>
      <p:sp>
        <p:nvSpPr>
          <p:cNvPr id="17" name="Shape 15"/>
          <p:cNvSpPr/>
          <p:nvPr/>
        </p:nvSpPr>
        <p:spPr>
          <a:xfrm>
            <a:off x="777240" y="4114800"/>
            <a:ext cx="411480" cy="411480"/>
          </a:xfrm>
          <a:prstGeom prst="ellipse">
            <a:avLst/>
          </a:prstGeom>
          <a:solidFill>
            <a:srgbClr val="B8770A"/>
          </a:solidFill>
          <a:ln/>
        </p:spPr>
      </p:sp>
      <p:sp>
        <p:nvSpPr>
          <p:cNvPr id="18" name="Text 16"/>
          <p:cNvSpPr txBox="1"/>
          <p:nvPr/>
        </p:nvSpPr>
        <p:spPr>
          <a:xfrm>
            <a:off x="1371600" y="4005072"/>
            <a:ext cx="3108960" cy="310896"/>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Citation validation</a:t>
            </a:r>
            <a:endParaRPr lang="en-US" sz="1550" dirty="0"/>
          </a:p>
        </p:txBody>
      </p:sp>
      <p:sp>
        <p:nvSpPr>
          <p:cNvPr id="19" name="Shape 17"/>
          <p:cNvSpPr/>
          <p:nvPr/>
        </p:nvSpPr>
        <p:spPr>
          <a:xfrm>
            <a:off x="1371600" y="4352544"/>
            <a:ext cx="1234440" cy="274320"/>
          </a:xfrm>
          <a:prstGeom prst="roundRect">
            <a:avLst>
              <a:gd name="adj" fmla="val 40000"/>
            </a:avLst>
          </a:prstGeom>
          <a:solidFill>
            <a:srgbClr val="B8770A"/>
          </a:solidFill>
          <a:ln/>
        </p:spPr>
      </p:sp>
      <p:sp>
        <p:nvSpPr>
          <p:cNvPr id="20" name="Text 18"/>
          <p:cNvSpPr txBox="1"/>
          <p:nvPr/>
        </p:nvSpPr>
        <p:spPr>
          <a:xfrm>
            <a:off x="1371600" y="435254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Post-answer</a:t>
            </a:r>
            <a:endParaRPr lang="en-US" sz="1000" dirty="0"/>
          </a:p>
        </p:txBody>
      </p:sp>
      <p:sp>
        <p:nvSpPr>
          <p:cNvPr id="21" name="Text 19"/>
          <p:cNvSpPr txBox="1"/>
          <p:nvPr/>
        </p:nvSpPr>
        <p:spPr>
          <a:xfrm>
            <a:off x="4663440" y="4096512"/>
            <a:ext cx="6675120" cy="502920"/>
          </a:xfrm>
          <a:prstGeom prst="rect">
            <a:avLst/>
          </a:prstGeom>
          <a:noFill/>
          <a:ln/>
        </p:spPr>
        <p:txBody>
          <a:bodyPr wrap="square" lIns="0" tIns="0" rIns="0" bIns="0" rtlCol="0" anchor="ctr"/>
          <a:lstStyle/>
          <a:p>
            <a:pPr indent="0" marL="0">
              <a:lnSpc>
                <a:spcPct val="115000"/>
              </a:lnSpc>
              <a:buNone/>
            </a:pPr>
            <a:r>
              <a:rPr lang="en-US" sz="1300" dirty="0">
                <a:solidFill>
                  <a:srgbClr val="5B6672"/>
                </a:solidFill>
                <a:latin typeface="Calibri" pitchFamily="34" charset="0"/>
                <a:ea typeface="Calibri" pitchFamily="34" charset="-122"/>
                <a:cs typeface="Calibri" pitchFamily="34" charset="-120"/>
              </a:rPr>
              <a:t>Every response is checked for sections cited but never retrieved, and the page warns</a:t>
            </a:r>
            <a:endParaRPr lang="en-US" sz="1300" dirty="0"/>
          </a:p>
        </p:txBody>
      </p:sp>
      <p:sp>
        <p:nvSpPr>
          <p:cNvPr id="22" name="Shape 20"/>
          <p:cNvSpPr/>
          <p:nvPr/>
        </p:nvSpPr>
        <p:spPr>
          <a:xfrm>
            <a:off x="548640" y="4937760"/>
            <a:ext cx="11064240" cy="960120"/>
          </a:xfrm>
          <a:prstGeom prst="roundRect">
            <a:avLst>
              <a:gd name="adj" fmla="val 7619"/>
            </a:avLst>
          </a:prstGeom>
          <a:solidFill>
            <a:srgbClr val="EEF3FA"/>
          </a:solidFill>
          <a:ln w="12700">
            <a:solidFill>
              <a:srgbClr val="DFE3E8"/>
            </a:solidFill>
            <a:prstDash val="solid"/>
          </a:ln>
        </p:spPr>
      </p:sp>
      <p:sp>
        <p:nvSpPr>
          <p:cNvPr id="23" name="Shape 21"/>
          <p:cNvSpPr/>
          <p:nvPr/>
        </p:nvSpPr>
        <p:spPr>
          <a:xfrm>
            <a:off x="777240" y="5212080"/>
            <a:ext cx="411480" cy="411480"/>
          </a:xfrm>
          <a:prstGeom prst="ellipse">
            <a:avLst/>
          </a:prstGeom>
          <a:solidFill>
            <a:srgbClr val="1E2761"/>
          </a:solidFill>
          <a:ln/>
        </p:spPr>
      </p:sp>
      <p:sp>
        <p:nvSpPr>
          <p:cNvPr id="24" name="Text 22"/>
          <p:cNvSpPr txBox="1"/>
          <p:nvPr/>
        </p:nvSpPr>
        <p:spPr>
          <a:xfrm>
            <a:off x="1371600" y="5102352"/>
            <a:ext cx="3108960" cy="310896"/>
          </a:xfrm>
          <a:prstGeom prst="rect">
            <a:avLst/>
          </a:prstGeom>
          <a:noFill/>
          <a:ln/>
        </p:spPr>
        <p:txBody>
          <a:bodyPr wrap="square" lIns="0" tIns="0" rIns="0" bIns="0" rtlCol="0" anchor="ctr"/>
          <a:lstStyle/>
          <a:p>
            <a:pPr indent="0" marL="0">
              <a:buNone/>
            </a:pPr>
            <a:r>
              <a:rPr lang="en-US" sz="1550" b="1" dirty="0">
                <a:solidFill>
                  <a:srgbClr val="1B1F24"/>
                </a:solidFill>
                <a:latin typeface="Calibri" pitchFamily="34" charset="0"/>
                <a:ea typeface="Calibri" pitchFamily="34" charset="-122"/>
                <a:cs typeface="Calibri" pitchFamily="34" charset="-120"/>
              </a:rPr>
              <a:t>Frozen clock</a:t>
            </a:r>
            <a:endParaRPr lang="en-US" sz="1550" dirty="0"/>
          </a:p>
        </p:txBody>
      </p:sp>
      <p:sp>
        <p:nvSpPr>
          <p:cNvPr id="25" name="Shape 23"/>
          <p:cNvSpPr/>
          <p:nvPr/>
        </p:nvSpPr>
        <p:spPr>
          <a:xfrm>
            <a:off x="1371600" y="5449824"/>
            <a:ext cx="1234440" cy="274320"/>
          </a:xfrm>
          <a:prstGeom prst="roundRect">
            <a:avLst>
              <a:gd name="adj" fmla="val 40000"/>
            </a:avLst>
          </a:prstGeom>
          <a:solidFill>
            <a:srgbClr val="1E2761"/>
          </a:solidFill>
          <a:ln/>
        </p:spPr>
      </p:sp>
      <p:sp>
        <p:nvSpPr>
          <p:cNvPr id="26" name="Text 24"/>
          <p:cNvSpPr txBox="1"/>
          <p:nvPr/>
        </p:nvSpPr>
        <p:spPr>
          <a:xfrm>
            <a:off x="1371600" y="544982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 the data</a:t>
            </a:r>
            <a:endParaRPr lang="en-US" sz="1000" dirty="0"/>
          </a:p>
        </p:txBody>
      </p:sp>
      <p:sp>
        <p:nvSpPr>
          <p:cNvPr id="27" name="Text 25"/>
          <p:cNvSpPr txBox="1"/>
          <p:nvPr/>
        </p:nvSpPr>
        <p:spPr>
          <a:xfrm>
            <a:off x="4663440" y="5193792"/>
            <a:ext cx="6675120" cy="502920"/>
          </a:xfrm>
          <a:prstGeom prst="rect">
            <a:avLst/>
          </a:prstGeom>
          <a:noFill/>
          <a:ln/>
        </p:spPr>
        <p:txBody>
          <a:bodyPr wrap="square" lIns="0" tIns="0" rIns="0" bIns="0" rtlCol="0" anchor="ctr"/>
          <a:lstStyle/>
          <a:p>
            <a:pPr indent="0" marL="0">
              <a:lnSpc>
                <a:spcPct val="115000"/>
              </a:lnSpc>
              <a:buNone/>
            </a:pPr>
            <a:r>
              <a:rPr lang="en-US" sz="1300" dirty="0">
                <a:solidFill>
                  <a:srgbClr val="5B6672"/>
                </a:solidFill>
                <a:latin typeface="Calibri" pitchFamily="34" charset="0"/>
                <a:ea typeface="Calibri" pitchFamily="34" charset="-122"/>
                <a:cs typeface="Calibri" pitchFamily="34" charset="-120"/>
              </a:rPr>
              <a:t>Tenure and probation compute from a fixed date, so answers stay reproducible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30 questions, seven behaviours, scored automatically</a:t>
            </a:r>
            <a:endParaRPr lang="en-US" sz="3200" dirty="0"/>
          </a:p>
        </p:txBody>
      </p:sp>
      <p:sp>
        <p:nvSpPr>
          <p:cNvPr id="4" name="Text 2"/>
          <p:cNvSpPr txBox="1"/>
          <p:nvPr/>
        </p:nvSpPr>
        <p:spPr>
          <a:xfrm>
            <a:off x="548640" y="1600200"/>
            <a:ext cx="2468880" cy="640080"/>
          </a:xfrm>
          <a:prstGeom prst="rect">
            <a:avLst/>
          </a:prstGeom>
          <a:noFill/>
          <a:ln/>
        </p:spPr>
        <p:txBody>
          <a:bodyPr wrap="square" lIns="0" tIns="0" rIns="0" bIns="0" rtlCol="0" anchor="ctr"/>
          <a:lstStyle/>
          <a:p>
            <a:pPr indent="0" marL="0">
              <a:buNone/>
            </a:pPr>
            <a:r>
              <a:rPr lang="en-US" sz="4400" b="1" dirty="0">
                <a:solidFill>
                  <a:srgbClr val="1F5FA9"/>
                </a:solidFill>
                <a:latin typeface="Cambria" pitchFamily="34" charset="0"/>
                <a:ea typeface="Cambria" pitchFamily="34" charset="-122"/>
                <a:cs typeface="Cambria" pitchFamily="34" charset="-120"/>
              </a:rPr>
              <a:t>93.3%</a:t>
            </a:r>
            <a:endParaRPr lang="en-US" sz="4400" dirty="0"/>
          </a:p>
        </p:txBody>
      </p:sp>
      <p:sp>
        <p:nvSpPr>
          <p:cNvPr id="5" name="Text 3"/>
          <p:cNvSpPr txBox="1"/>
          <p:nvPr/>
        </p:nvSpPr>
        <p:spPr>
          <a:xfrm>
            <a:off x="548640" y="2276856"/>
            <a:ext cx="246888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overall pass rate</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28 of 30</a:t>
            </a:r>
            <a:endParaRPr lang="en-US" sz="1200" dirty="0"/>
          </a:p>
        </p:txBody>
      </p:sp>
      <p:sp>
        <p:nvSpPr>
          <p:cNvPr id="6" name="Text 4"/>
          <p:cNvSpPr txBox="1"/>
          <p:nvPr/>
        </p:nvSpPr>
        <p:spPr>
          <a:xfrm>
            <a:off x="548640" y="3063240"/>
            <a:ext cx="2468880" cy="640080"/>
          </a:xfrm>
          <a:prstGeom prst="rect">
            <a:avLst/>
          </a:prstGeom>
          <a:noFill/>
          <a:ln/>
        </p:spPr>
        <p:txBody>
          <a:bodyPr wrap="square" lIns="0" tIns="0" rIns="0" bIns="0" rtlCol="0" anchor="ctr"/>
          <a:lstStyle/>
          <a:p>
            <a:pPr indent="0" marL="0">
              <a:buNone/>
            </a:pPr>
            <a:r>
              <a:rPr lang="en-US" sz="4000" b="1" dirty="0">
                <a:solidFill>
                  <a:srgbClr val="1F5FA9"/>
                </a:solidFill>
                <a:latin typeface="Cambria" pitchFamily="34" charset="0"/>
                <a:ea typeface="Cambria" pitchFamily="34" charset="-122"/>
                <a:cs typeface="Cambria" pitchFamily="34" charset="-120"/>
              </a:rPr>
              <a:t>2.9s</a:t>
            </a:r>
            <a:endParaRPr lang="en-US" sz="4000" dirty="0"/>
          </a:p>
        </p:txBody>
      </p:sp>
      <p:sp>
        <p:nvSpPr>
          <p:cNvPr id="7" name="Text 5"/>
          <p:cNvSpPr txBox="1"/>
          <p:nvPr/>
        </p:nvSpPr>
        <p:spPr>
          <a:xfrm>
            <a:off x="548640" y="3739896"/>
            <a:ext cx="246888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median latency</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p95 4.4s</a:t>
            </a:r>
            <a:endParaRPr lang="en-US" sz="1200" dirty="0"/>
          </a:p>
        </p:txBody>
      </p:sp>
      <p:sp>
        <p:nvSpPr>
          <p:cNvPr id="8" name="Text 6"/>
          <p:cNvSpPr txBox="1"/>
          <p:nvPr/>
        </p:nvSpPr>
        <p:spPr>
          <a:xfrm>
            <a:off x="548640" y="4526280"/>
            <a:ext cx="2468880" cy="640080"/>
          </a:xfrm>
          <a:prstGeom prst="rect">
            <a:avLst/>
          </a:prstGeom>
          <a:noFill/>
          <a:ln/>
        </p:spPr>
        <p:txBody>
          <a:bodyPr wrap="square" lIns="0" tIns="0" rIns="0" bIns="0" rtlCol="0" anchor="ctr"/>
          <a:lstStyle/>
          <a:p>
            <a:pPr indent="0" marL="0">
              <a:buNone/>
            </a:pPr>
            <a:r>
              <a:rPr lang="en-US" sz="3400" b="1" dirty="0">
                <a:solidFill>
                  <a:srgbClr val="1F5FA9"/>
                </a:solidFill>
                <a:latin typeface="Cambria" pitchFamily="34" charset="0"/>
                <a:ea typeface="Cambria" pitchFamily="34" charset="-122"/>
                <a:cs typeface="Cambria" pitchFamily="34" charset="-120"/>
              </a:rPr>
              <a:t>$0.013</a:t>
            </a:r>
            <a:endParaRPr lang="en-US" sz="3400" dirty="0"/>
          </a:p>
        </p:txBody>
      </p:sp>
      <p:sp>
        <p:nvSpPr>
          <p:cNvPr id="9" name="Text 7"/>
          <p:cNvSpPr txBox="1"/>
          <p:nvPr/>
        </p:nvSpPr>
        <p:spPr>
          <a:xfrm>
            <a:off x="548640" y="5202936"/>
            <a:ext cx="246888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cost per full</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evaluation run</a:t>
            </a:r>
            <a:endParaRPr lang="en-US" sz="1200" dirty="0"/>
          </a:p>
        </p:txBody>
      </p:sp>
      <p:graphicFrame>
        <p:nvGraphicFramePr>
          <p:cNvPr id="10" name="Chart 0" descr=""/>
          <p:cNvGraphicFramePr/>
          <p:nvPr/>
        </p:nvGraphicFramePr>
        <p:xfrm>
          <a:off x="3291840" y="1554480"/>
          <a:ext cx="8321040" cy="32004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3291840" y="4892040"/>
            <a:ext cx="8321040" cy="27432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Categories: straightforward · multi-document · tool-requiring · ambiguous · out-of-scope · escalation · action safety</a:t>
            </a:r>
            <a:endParaRPr lang="en-US" sz="1150" dirty="0"/>
          </a:p>
        </p:txBody>
      </p:sp>
      <p:sp>
        <p:nvSpPr>
          <p:cNvPr id="12" name="Shape 9"/>
          <p:cNvSpPr/>
          <p:nvPr/>
        </p:nvSpPr>
        <p:spPr>
          <a:xfrm>
            <a:off x="3291840" y="5257800"/>
            <a:ext cx="8321040" cy="868680"/>
          </a:xfrm>
          <a:prstGeom prst="roundRect">
            <a:avLst>
              <a:gd name="adj" fmla="val 8421"/>
            </a:avLst>
          </a:prstGeom>
          <a:solidFill>
            <a:srgbClr val="EEF3FA"/>
          </a:solidFill>
          <a:ln w="12700">
            <a:solidFill>
              <a:srgbClr val="DFE3E8"/>
            </a:solidFill>
            <a:prstDash val="solid"/>
          </a:ln>
        </p:spPr>
      </p:sp>
      <p:sp>
        <p:nvSpPr>
          <p:cNvPr id="13" name="Text 10"/>
          <p:cNvSpPr txBox="1"/>
          <p:nvPr/>
        </p:nvSpPr>
        <p:spPr>
          <a:xfrm>
            <a:off x="3520440" y="5394960"/>
            <a:ext cx="7863840" cy="640080"/>
          </a:xfrm>
          <a:prstGeom prst="rect">
            <a:avLst/>
          </a:prstGeom>
          <a:noFill/>
          <a:ln/>
        </p:spPr>
        <p:txBody>
          <a:bodyPr wrap="square" lIns="0" tIns="0" rIns="0" bIns="0" rtlCol="0" anchor="ctr"/>
          <a:lstStyle/>
          <a:p>
            <a:pPr indent="0" marL="0">
              <a:lnSpc>
                <a:spcPct val="115000"/>
              </a:lnSpc>
              <a:buNone/>
            </a:pPr>
            <a:r>
              <a:rPr lang="en-US" sz="1250" dirty="0">
                <a:solidFill>
                  <a:srgbClr val="1B1F24"/>
                </a:solidFill>
                <a:latin typeface="Calibri" pitchFamily="34" charset="0"/>
                <a:ea typeface="Calibri" pitchFamily="34" charset="-122"/>
                <a:cs typeface="Calibri" pitchFamily="34" charset="-120"/>
              </a:rPr>
              <a:t>Gold answers derive from the corpus specification and the employee records — not from the policy prose. A document that drifts from the spec fails the evaluation rather than agreeing with itself.</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ABLATION</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Remove the tools and it is faster — and wrong</a:t>
            </a:r>
            <a:endParaRPr lang="en-US" sz="3200" dirty="0"/>
          </a:p>
        </p:txBody>
      </p:sp>
      <p:graphicFrame>
        <p:nvGraphicFramePr>
          <p:cNvPr id="4" name="Chart 0" descr=""/>
          <p:cNvGraphicFramePr/>
          <p:nvPr/>
        </p:nvGraphicFramePr>
        <p:xfrm>
          <a:off x="548640" y="1600200"/>
          <a:ext cx="69494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1645920"/>
            <a:ext cx="3657600" cy="640080"/>
          </a:xfrm>
          <a:prstGeom prst="rect">
            <a:avLst/>
          </a:prstGeom>
          <a:noFill/>
          <a:ln/>
        </p:spPr>
        <p:txBody>
          <a:bodyPr wrap="square" lIns="0" tIns="0" rIns="0" bIns="0" rtlCol="0" anchor="ctr"/>
          <a:lstStyle/>
          <a:p>
            <a:pPr indent="0" marL="0">
              <a:buNone/>
            </a:pPr>
            <a:r>
              <a:rPr lang="en-US" sz="4000" b="1" dirty="0">
                <a:solidFill>
                  <a:srgbClr val="B8770A"/>
                </a:solidFill>
                <a:latin typeface="Cambria" pitchFamily="34" charset="0"/>
                <a:ea typeface="Cambria" pitchFamily="34" charset="-122"/>
                <a:cs typeface="Cambria" pitchFamily="34" charset="-120"/>
              </a:rPr>
              <a:t>−60 pts</a:t>
            </a:r>
            <a:endParaRPr lang="en-US" sz="4000" dirty="0"/>
          </a:p>
        </p:txBody>
      </p:sp>
      <p:sp>
        <p:nvSpPr>
          <p:cNvPr id="6" name="Text 3"/>
          <p:cNvSpPr txBox="1"/>
          <p:nvPr/>
        </p:nvSpPr>
        <p:spPr>
          <a:xfrm>
            <a:off x="7955280" y="2322576"/>
            <a:ext cx="3657600" cy="502920"/>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overall, with the same model</a:t>
            </a:r>
            <a:endParaRPr lang="en-US" sz="1200" dirty="0"/>
          </a:p>
          <a:p>
            <a:pPr indent="0" marL="0">
              <a:buNone/>
            </a:pPr>
            <a:r>
              <a:rPr lang="en-US" sz="1200" dirty="0">
                <a:solidFill>
                  <a:srgbClr val="5B6672"/>
                </a:solidFill>
                <a:latin typeface="Calibri" pitchFamily="34" charset="0"/>
                <a:ea typeface="Calibri" pitchFamily="34" charset="-122"/>
                <a:cs typeface="Calibri" pitchFamily="34" charset="-120"/>
              </a:rPr>
              <a:t>and the same prompts</a:t>
            </a:r>
            <a:endParaRPr lang="en-US" sz="1200" dirty="0"/>
          </a:p>
        </p:txBody>
      </p:sp>
      <p:sp>
        <p:nvSpPr>
          <p:cNvPr id="7" name="Shape 4"/>
          <p:cNvSpPr/>
          <p:nvPr/>
        </p:nvSpPr>
        <p:spPr>
          <a:xfrm>
            <a:off x="7955280" y="3200400"/>
            <a:ext cx="3657600" cy="960120"/>
          </a:xfrm>
          <a:prstGeom prst="roundRect">
            <a:avLst>
              <a:gd name="adj" fmla="val 7619"/>
            </a:avLst>
          </a:prstGeom>
          <a:solidFill>
            <a:srgbClr val="EEF3FA"/>
          </a:solidFill>
          <a:ln w="12700">
            <a:solidFill>
              <a:srgbClr val="DFE3E8"/>
            </a:solidFill>
            <a:prstDash val="solid"/>
          </a:ln>
        </p:spPr>
      </p:sp>
      <p:sp>
        <p:nvSpPr>
          <p:cNvPr id="8" name="Text 5"/>
          <p:cNvSpPr txBox="1"/>
          <p:nvPr/>
        </p:nvSpPr>
        <p:spPr>
          <a:xfrm>
            <a:off x="8183880" y="3310128"/>
            <a:ext cx="3200400" cy="256032"/>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Latency p50</a:t>
            </a:r>
            <a:endParaRPr lang="en-US" sz="1200" dirty="0"/>
          </a:p>
        </p:txBody>
      </p:sp>
      <p:sp>
        <p:nvSpPr>
          <p:cNvPr id="9" name="Text 6"/>
          <p:cNvSpPr txBox="1"/>
          <p:nvPr/>
        </p:nvSpPr>
        <p:spPr>
          <a:xfrm>
            <a:off x="8183880" y="3566160"/>
            <a:ext cx="3200400" cy="41148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2,803 ms  →  1,067 ms</a:t>
            </a:r>
            <a:endParaRPr lang="en-US" sz="1700" dirty="0"/>
          </a:p>
        </p:txBody>
      </p:sp>
      <p:sp>
        <p:nvSpPr>
          <p:cNvPr id="10" name="Shape 7"/>
          <p:cNvSpPr/>
          <p:nvPr/>
        </p:nvSpPr>
        <p:spPr>
          <a:xfrm>
            <a:off x="7955280" y="4343400"/>
            <a:ext cx="3657600" cy="960120"/>
          </a:xfrm>
          <a:prstGeom prst="roundRect">
            <a:avLst>
              <a:gd name="adj" fmla="val 7619"/>
            </a:avLst>
          </a:prstGeom>
          <a:solidFill>
            <a:srgbClr val="EEF3FA"/>
          </a:solidFill>
          <a:ln w="12700">
            <a:solidFill>
              <a:srgbClr val="DFE3E8"/>
            </a:solidFill>
            <a:prstDash val="solid"/>
          </a:ln>
        </p:spPr>
      </p:sp>
      <p:sp>
        <p:nvSpPr>
          <p:cNvPr id="11" name="Text 8"/>
          <p:cNvSpPr txBox="1"/>
          <p:nvPr/>
        </p:nvSpPr>
        <p:spPr>
          <a:xfrm>
            <a:off x="8183880" y="4453128"/>
            <a:ext cx="3200400" cy="256032"/>
          </a:xfrm>
          <a:prstGeom prst="rect">
            <a:avLst/>
          </a:prstGeom>
          <a:noFill/>
          <a:ln/>
        </p:spPr>
        <p:txBody>
          <a:bodyPr wrap="square" lIns="0" tIns="0" rIns="0" bIns="0" rtlCol="0" anchor="ctr"/>
          <a:lstStyle/>
          <a:p>
            <a:pPr indent="0" marL="0">
              <a:buNone/>
            </a:pPr>
            <a:r>
              <a:rPr lang="en-US" sz="1200" dirty="0">
                <a:solidFill>
                  <a:srgbClr val="5B6672"/>
                </a:solidFill>
                <a:latin typeface="Calibri" pitchFamily="34" charset="0"/>
                <a:ea typeface="Calibri" pitchFamily="34" charset="-122"/>
                <a:cs typeface="Calibri" pitchFamily="34" charset="-120"/>
              </a:rPr>
              <a:t>Action safety</a:t>
            </a:r>
            <a:endParaRPr lang="en-US" sz="1200" dirty="0"/>
          </a:p>
        </p:txBody>
      </p:sp>
      <p:sp>
        <p:nvSpPr>
          <p:cNvPr id="12" name="Text 9"/>
          <p:cNvSpPr txBox="1"/>
          <p:nvPr/>
        </p:nvSpPr>
        <p:spPr>
          <a:xfrm>
            <a:off x="8183880" y="4709160"/>
            <a:ext cx="3200400" cy="411480"/>
          </a:xfrm>
          <a:prstGeom prst="rect">
            <a:avLst/>
          </a:prstGeom>
          <a:noFill/>
          <a:ln/>
        </p:spPr>
        <p:txBody>
          <a:bodyPr wrap="square" lIns="0" tIns="0" rIns="0" bIns="0" rtlCol="0" anchor="ctr"/>
          <a:lstStyle/>
          <a:p>
            <a:pPr indent="0" marL="0">
              <a:buNone/>
            </a:pPr>
            <a:r>
              <a:rPr lang="en-US" sz="1700" b="1" dirty="0">
                <a:solidFill>
                  <a:srgbClr val="2C5F2D"/>
                </a:solidFill>
                <a:latin typeface="Calibri" pitchFamily="34" charset="0"/>
                <a:ea typeface="Calibri" pitchFamily="34" charset="-122"/>
                <a:cs typeface="Calibri" pitchFamily="34" charset="-120"/>
              </a:rPr>
              <a:t>100%  →  100%</a:t>
            </a:r>
            <a:endParaRPr lang="en-US" sz="1700" dirty="0"/>
          </a:p>
        </p:txBody>
      </p:sp>
      <p:sp>
        <p:nvSpPr>
          <p:cNvPr id="13" name="Text 10"/>
          <p:cNvSpPr txBox="1"/>
          <p:nvPr/>
        </p:nvSpPr>
        <p:spPr>
          <a:xfrm>
            <a:off x="548640" y="5257800"/>
            <a:ext cx="11064240" cy="777240"/>
          </a:xfrm>
          <a:prstGeom prst="rect">
            <a:avLst/>
          </a:prstGeom>
          <a:noFill/>
          <a:ln/>
        </p:spPr>
        <p:txBody>
          <a:bodyPr wrap="square" lIns="0" tIns="0" rIns="0" bIns="0" rtlCol="0" anchor="ctr"/>
          <a:lstStyle/>
          <a:p>
            <a:pPr indent="0" marL="0">
              <a:lnSpc>
                <a:spcPct val="120000"/>
              </a:lnSpc>
              <a:buNone/>
            </a:pPr>
            <a:r>
              <a:rPr lang="en-US" sz="1350" dirty="0">
                <a:solidFill>
                  <a:srgbClr val="1B1F24"/>
                </a:solidFill>
                <a:latin typeface="Calibri" pitchFamily="34" charset="0"/>
                <a:ea typeface="Calibri" pitchFamily="34" charset="-122"/>
                <a:cs typeface="Calibri" pitchFamily="34" charset="-120"/>
              </a:rPr>
              <a:t>The gap is only possible because the answers are not recoverable from pre-training — a property of the corpus, not luck. Action safety is unchanged because with no tools there is nothing to write: the guardrail was never being carried by the prompt.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7315200" cy="256032"/>
          </a:xfrm>
          <a:prstGeom prst="rect">
            <a:avLst/>
          </a:prstGeom>
          <a:noFill/>
          <a:ln/>
        </p:spPr>
        <p:txBody>
          <a:bodyPr wrap="square" lIns="0" tIns="0" rIns="0" bIns="0" rtlCol="0" anchor="ctr"/>
          <a:lstStyle/>
          <a:p>
            <a:pPr indent="0" marL="0">
              <a:buNone/>
            </a:pPr>
            <a:r>
              <a:rPr lang="en-US" sz="1200" b="1" spc="140" kern="0" dirty="0">
                <a:solidFill>
                  <a:srgbClr val="1F5FA9"/>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Deployed, tested, and gated on green</a:t>
            </a:r>
            <a:endParaRPr lang="en-US" sz="3200" dirty="0"/>
          </a:p>
        </p:txBody>
      </p:sp>
      <p:sp>
        <p:nvSpPr>
          <p:cNvPr id="4" name="Shape 2"/>
          <p:cNvSpPr/>
          <p:nvPr/>
        </p:nvSpPr>
        <p:spPr>
          <a:xfrm>
            <a:off x="548640" y="1691640"/>
            <a:ext cx="1627632" cy="658368"/>
          </a:xfrm>
          <a:prstGeom prst="roundRect">
            <a:avLst>
              <a:gd name="adj" fmla="val 13889"/>
            </a:avLst>
          </a:prstGeom>
          <a:solidFill>
            <a:srgbClr val="EEF3FA"/>
          </a:solidFill>
          <a:ln w="12700">
            <a:solidFill>
              <a:srgbClr val="DFE3E8"/>
            </a:solidFill>
            <a:prstDash val="solid"/>
          </a:ln>
        </p:spPr>
      </p:sp>
      <p:sp>
        <p:nvSpPr>
          <p:cNvPr id="5" name="Text 3"/>
          <p:cNvSpPr txBox="1"/>
          <p:nvPr/>
        </p:nvSpPr>
        <p:spPr>
          <a:xfrm>
            <a:off x="548640" y="1691640"/>
            <a:ext cx="1627632" cy="65836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Install</a:t>
            </a:r>
            <a:endParaRPr lang="en-US" sz="1250" dirty="0"/>
          </a:p>
        </p:txBody>
      </p:sp>
      <p:sp>
        <p:nvSpPr>
          <p:cNvPr id="6" name="Shape 4"/>
          <p:cNvSpPr/>
          <p:nvPr/>
        </p:nvSpPr>
        <p:spPr>
          <a:xfrm>
            <a:off x="2194560" y="2020824"/>
            <a:ext cx="219456" cy="0"/>
          </a:xfrm>
          <a:prstGeom prst="line">
            <a:avLst/>
          </a:prstGeom>
          <a:noFill/>
          <a:ln w="19050">
            <a:solidFill>
              <a:srgbClr val="5B6672"/>
            </a:solidFill>
            <a:prstDash val="solid"/>
            <a:tailEnd type="triangle"/>
          </a:ln>
        </p:spPr>
      </p:sp>
      <p:sp>
        <p:nvSpPr>
          <p:cNvPr id="7" name="Shape 5"/>
          <p:cNvSpPr/>
          <p:nvPr/>
        </p:nvSpPr>
        <p:spPr>
          <a:xfrm>
            <a:off x="2432304" y="1691640"/>
            <a:ext cx="1627632" cy="658368"/>
          </a:xfrm>
          <a:prstGeom prst="roundRect">
            <a:avLst>
              <a:gd name="adj" fmla="val 13889"/>
            </a:avLst>
          </a:prstGeom>
          <a:solidFill>
            <a:srgbClr val="EEF3FA"/>
          </a:solidFill>
          <a:ln w="12700">
            <a:solidFill>
              <a:srgbClr val="DFE3E8"/>
            </a:solidFill>
            <a:prstDash val="solid"/>
          </a:ln>
        </p:spPr>
      </p:sp>
      <p:sp>
        <p:nvSpPr>
          <p:cNvPr id="8" name="Text 6"/>
          <p:cNvSpPr txBox="1"/>
          <p:nvPr/>
        </p:nvSpPr>
        <p:spPr>
          <a:xfrm>
            <a:off x="2432304" y="1691640"/>
            <a:ext cx="1627632" cy="65836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Corpus gates</a:t>
            </a:r>
            <a:endParaRPr lang="en-US" sz="1250" dirty="0"/>
          </a:p>
        </p:txBody>
      </p:sp>
      <p:sp>
        <p:nvSpPr>
          <p:cNvPr id="9" name="Shape 7"/>
          <p:cNvSpPr/>
          <p:nvPr/>
        </p:nvSpPr>
        <p:spPr>
          <a:xfrm>
            <a:off x="4078224" y="2020824"/>
            <a:ext cx="219456" cy="0"/>
          </a:xfrm>
          <a:prstGeom prst="line">
            <a:avLst/>
          </a:prstGeom>
          <a:noFill/>
          <a:ln w="19050">
            <a:solidFill>
              <a:srgbClr val="5B6672"/>
            </a:solidFill>
            <a:prstDash val="solid"/>
            <a:tailEnd type="triangle"/>
          </a:ln>
        </p:spPr>
      </p:sp>
      <p:sp>
        <p:nvSpPr>
          <p:cNvPr id="10" name="Shape 8"/>
          <p:cNvSpPr/>
          <p:nvPr/>
        </p:nvSpPr>
        <p:spPr>
          <a:xfrm>
            <a:off x="4315968" y="1691640"/>
            <a:ext cx="1627632" cy="658368"/>
          </a:xfrm>
          <a:prstGeom prst="roundRect">
            <a:avLst>
              <a:gd name="adj" fmla="val 13889"/>
            </a:avLst>
          </a:prstGeom>
          <a:solidFill>
            <a:srgbClr val="EEF3FA"/>
          </a:solidFill>
          <a:ln w="12700">
            <a:solidFill>
              <a:srgbClr val="DFE3E8"/>
            </a:solidFill>
            <a:prstDash val="solid"/>
          </a:ln>
        </p:spPr>
      </p:sp>
      <p:sp>
        <p:nvSpPr>
          <p:cNvPr id="11" name="Text 9"/>
          <p:cNvSpPr txBox="1"/>
          <p:nvPr/>
        </p:nvSpPr>
        <p:spPr>
          <a:xfrm>
            <a:off x="4315968" y="1691640"/>
            <a:ext cx="1627632" cy="65836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140 tests</a:t>
            </a:r>
            <a:endParaRPr lang="en-US" sz="1250" dirty="0"/>
          </a:p>
        </p:txBody>
      </p:sp>
      <p:sp>
        <p:nvSpPr>
          <p:cNvPr id="12" name="Shape 10"/>
          <p:cNvSpPr/>
          <p:nvPr/>
        </p:nvSpPr>
        <p:spPr>
          <a:xfrm>
            <a:off x="5961888" y="2020824"/>
            <a:ext cx="219456" cy="0"/>
          </a:xfrm>
          <a:prstGeom prst="line">
            <a:avLst/>
          </a:prstGeom>
          <a:noFill/>
          <a:ln w="19050">
            <a:solidFill>
              <a:srgbClr val="5B6672"/>
            </a:solidFill>
            <a:prstDash val="solid"/>
            <a:tailEnd type="triangle"/>
          </a:ln>
        </p:spPr>
      </p:sp>
      <p:sp>
        <p:nvSpPr>
          <p:cNvPr id="13" name="Shape 11"/>
          <p:cNvSpPr/>
          <p:nvPr/>
        </p:nvSpPr>
        <p:spPr>
          <a:xfrm>
            <a:off x="6199632" y="1691640"/>
            <a:ext cx="1627632" cy="658368"/>
          </a:xfrm>
          <a:prstGeom prst="roundRect">
            <a:avLst>
              <a:gd name="adj" fmla="val 13889"/>
            </a:avLst>
          </a:prstGeom>
          <a:solidFill>
            <a:srgbClr val="EEF3FA"/>
          </a:solidFill>
          <a:ln w="12700">
            <a:solidFill>
              <a:srgbClr val="DFE3E8"/>
            </a:solidFill>
            <a:prstDash val="solid"/>
          </a:ln>
        </p:spPr>
      </p:sp>
      <p:sp>
        <p:nvSpPr>
          <p:cNvPr id="14" name="Text 12"/>
          <p:cNvSpPr txBox="1"/>
          <p:nvPr/>
        </p:nvSpPr>
        <p:spPr>
          <a:xfrm>
            <a:off x="6199632" y="1691640"/>
            <a:ext cx="1627632" cy="65836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MCP discovery</a:t>
            </a:r>
            <a:endParaRPr lang="en-US" sz="1250" dirty="0"/>
          </a:p>
        </p:txBody>
      </p:sp>
      <p:sp>
        <p:nvSpPr>
          <p:cNvPr id="15" name="Shape 13"/>
          <p:cNvSpPr/>
          <p:nvPr/>
        </p:nvSpPr>
        <p:spPr>
          <a:xfrm>
            <a:off x="7845552" y="2020824"/>
            <a:ext cx="219456" cy="0"/>
          </a:xfrm>
          <a:prstGeom prst="line">
            <a:avLst/>
          </a:prstGeom>
          <a:noFill/>
          <a:ln w="19050">
            <a:solidFill>
              <a:srgbClr val="5B6672"/>
            </a:solidFill>
            <a:prstDash val="solid"/>
            <a:tailEnd type="triangle"/>
          </a:ln>
        </p:spPr>
      </p:sp>
      <p:sp>
        <p:nvSpPr>
          <p:cNvPr id="16" name="Shape 14"/>
          <p:cNvSpPr/>
          <p:nvPr/>
        </p:nvSpPr>
        <p:spPr>
          <a:xfrm>
            <a:off x="8083296" y="1691640"/>
            <a:ext cx="1627632" cy="658368"/>
          </a:xfrm>
          <a:prstGeom prst="roundRect">
            <a:avLst>
              <a:gd name="adj" fmla="val 13889"/>
            </a:avLst>
          </a:prstGeom>
          <a:solidFill>
            <a:srgbClr val="EEF3FA"/>
          </a:solidFill>
          <a:ln w="12700">
            <a:solidFill>
              <a:srgbClr val="DFE3E8"/>
            </a:solidFill>
            <a:prstDash val="solid"/>
          </a:ln>
        </p:spPr>
      </p:sp>
      <p:sp>
        <p:nvSpPr>
          <p:cNvPr id="17" name="Text 15"/>
          <p:cNvSpPr txBox="1"/>
          <p:nvPr/>
        </p:nvSpPr>
        <p:spPr>
          <a:xfrm>
            <a:off x="8083296" y="1691640"/>
            <a:ext cx="1627632" cy="65836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Docker build</a:t>
            </a:r>
            <a:endParaRPr lang="en-US" sz="1250" dirty="0"/>
          </a:p>
        </p:txBody>
      </p:sp>
      <p:sp>
        <p:nvSpPr>
          <p:cNvPr id="18" name="Shape 16"/>
          <p:cNvSpPr/>
          <p:nvPr/>
        </p:nvSpPr>
        <p:spPr>
          <a:xfrm>
            <a:off x="9729216" y="2020824"/>
            <a:ext cx="219456" cy="0"/>
          </a:xfrm>
          <a:prstGeom prst="line">
            <a:avLst/>
          </a:prstGeom>
          <a:noFill/>
          <a:ln w="19050">
            <a:solidFill>
              <a:srgbClr val="5B6672"/>
            </a:solidFill>
            <a:prstDash val="solid"/>
            <a:tailEnd type="triangle"/>
          </a:ln>
        </p:spPr>
      </p:sp>
      <p:sp>
        <p:nvSpPr>
          <p:cNvPr id="19" name="Shape 17"/>
          <p:cNvSpPr/>
          <p:nvPr/>
        </p:nvSpPr>
        <p:spPr>
          <a:xfrm>
            <a:off x="9966960" y="1691640"/>
            <a:ext cx="1627632" cy="658368"/>
          </a:xfrm>
          <a:prstGeom prst="roundRect">
            <a:avLst>
              <a:gd name="adj" fmla="val 13889"/>
            </a:avLst>
          </a:prstGeom>
          <a:solidFill>
            <a:srgbClr val="2C5F2D"/>
          </a:solidFill>
          <a:ln w="12700">
            <a:solidFill>
              <a:srgbClr val="2C5F2D"/>
            </a:solidFill>
            <a:prstDash val="solid"/>
          </a:ln>
        </p:spPr>
      </p:sp>
      <p:sp>
        <p:nvSpPr>
          <p:cNvPr id="20" name="Text 18"/>
          <p:cNvSpPr txBox="1"/>
          <p:nvPr/>
        </p:nvSpPr>
        <p:spPr>
          <a:xfrm>
            <a:off x="9966960" y="1691640"/>
            <a:ext cx="1627632"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Deploy</a:t>
            </a:r>
            <a:endParaRPr lang="en-US" sz="1250" dirty="0"/>
          </a:p>
        </p:txBody>
      </p:sp>
      <p:sp>
        <p:nvSpPr>
          <p:cNvPr id="21" name="Shape 19"/>
          <p:cNvSpPr/>
          <p:nvPr/>
        </p:nvSpPr>
        <p:spPr>
          <a:xfrm>
            <a:off x="548640" y="2743200"/>
            <a:ext cx="7040880" cy="1005840"/>
          </a:xfrm>
          <a:prstGeom prst="roundRect">
            <a:avLst>
              <a:gd name="adj" fmla="val 7273"/>
            </a:avLst>
          </a:prstGeom>
          <a:solidFill>
            <a:srgbClr val="EEF3FA"/>
          </a:solidFill>
          <a:ln w="12700">
            <a:solidFill>
              <a:srgbClr val="DFE3E8"/>
            </a:solidFill>
            <a:prstDash val="solid"/>
          </a:ln>
        </p:spPr>
      </p:sp>
      <p:sp>
        <p:nvSpPr>
          <p:cNvPr id="22" name="Text 20"/>
          <p:cNvSpPr txBox="1"/>
          <p:nvPr/>
        </p:nvSpPr>
        <p:spPr>
          <a:xfrm>
            <a:off x="822960" y="2880360"/>
            <a:ext cx="6492240" cy="292608"/>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Python 3.12, pinned</a:t>
            </a:r>
            <a:endParaRPr lang="en-US" sz="1450" dirty="0"/>
          </a:p>
        </p:txBody>
      </p:sp>
      <p:sp>
        <p:nvSpPr>
          <p:cNvPr id="23" name="Text 21"/>
          <p:cNvSpPr txBox="1"/>
          <p:nvPr/>
        </p:nvSpPr>
        <p:spPr>
          <a:xfrm>
            <a:off x="822960" y="3172968"/>
            <a:ext cx="6492240" cy="502920"/>
          </a:xfrm>
          <a:prstGeom prst="rect">
            <a:avLst/>
          </a:prstGeom>
          <a:noFill/>
          <a:ln/>
        </p:spPr>
        <p:txBody>
          <a:bodyPr wrap="square" lIns="0" tIns="0" rIns="0" bIns="0" rtlCol="0" anchor="ctr"/>
          <a:lstStyle/>
          <a:p>
            <a:pPr indent="0" marL="0">
              <a:lnSpc>
                <a:spcPct val="110000"/>
              </a:lnSpc>
              <a:buNone/>
            </a:pPr>
            <a:r>
              <a:rPr lang="en-US" sz="1200" dirty="0">
                <a:solidFill>
                  <a:srgbClr val="5B6672"/>
                </a:solidFill>
                <a:latin typeface="Calibri" pitchFamily="34" charset="0"/>
                <a:ea typeface="Calibri" pitchFamily="34" charset="-122"/>
                <a:cs typeface="Calibri" pitchFamily="34" charset="-120"/>
              </a:rPr>
              <a:t>Not the 3.14 used locally — chromadb, onnxruntime and fastembed ship wheels that lag new CPython, and a missing wheel fails at deploy time</a:t>
            </a:r>
            <a:endParaRPr lang="en-US" sz="1200" dirty="0"/>
          </a:p>
        </p:txBody>
      </p:sp>
      <p:sp>
        <p:nvSpPr>
          <p:cNvPr id="24" name="Shape 22"/>
          <p:cNvSpPr/>
          <p:nvPr/>
        </p:nvSpPr>
        <p:spPr>
          <a:xfrm>
            <a:off x="548640" y="3886200"/>
            <a:ext cx="7040880" cy="1005840"/>
          </a:xfrm>
          <a:prstGeom prst="roundRect">
            <a:avLst>
              <a:gd name="adj" fmla="val 7273"/>
            </a:avLst>
          </a:prstGeom>
          <a:solidFill>
            <a:srgbClr val="EEF3FA"/>
          </a:solidFill>
          <a:ln w="12700">
            <a:solidFill>
              <a:srgbClr val="DFE3E8"/>
            </a:solidFill>
            <a:prstDash val="solid"/>
          </a:ln>
        </p:spPr>
      </p:sp>
      <p:sp>
        <p:nvSpPr>
          <p:cNvPr id="25" name="Text 23"/>
          <p:cNvSpPr txBox="1"/>
          <p:nvPr/>
        </p:nvSpPr>
        <p:spPr>
          <a:xfrm>
            <a:off x="822960" y="4023360"/>
            <a:ext cx="6492240" cy="292608"/>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Index built at image build</a:t>
            </a:r>
            <a:endParaRPr lang="en-US" sz="1450" dirty="0"/>
          </a:p>
        </p:txBody>
      </p:sp>
      <p:sp>
        <p:nvSpPr>
          <p:cNvPr id="26" name="Text 24"/>
          <p:cNvSpPr txBox="1"/>
          <p:nvPr/>
        </p:nvSpPr>
        <p:spPr>
          <a:xfrm>
            <a:off x="822960" y="4315968"/>
            <a:ext cx="6492240" cy="502920"/>
          </a:xfrm>
          <a:prstGeom prst="rect">
            <a:avLst/>
          </a:prstGeom>
          <a:noFill/>
          <a:ln/>
        </p:spPr>
        <p:txBody>
          <a:bodyPr wrap="square" lIns="0" tIns="0" rIns="0" bIns="0" rtlCol="0" anchor="ctr"/>
          <a:lstStyle/>
          <a:p>
            <a:pPr indent="0" marL="0">
              <a:lnSpc>
                <a:spcPct val="110000"/>
              </a:lnSpc>
              <a:buNone/>
            </a:pPr>
            <a:r>
              <a:rPr lang="en-US" sz="1200" dirty="0">
                <a:solidFill>
                  <a:srgbClr val="5B6672"/>
                </a:solidFill>
                <a:latin typeface="Calibri" pitchFamily="34" charset="0"/>
                <a:ea typeface="Calibri" pitchFamily="34" charset="-122"/>
                <a:cs typeface="Calibri" pitchFamily="34" charset="-120"/>
              </a:rPr>
              <a:t>A cold start loads the model rather than downloading it, and a broken corpus fails the build instead of production</a:t>
            </a:r>
            <a:endParaRPr lang="en-US" sz="1200" dirty="0"/>
          </a:p>
        </p:txBody>
      </p:sp>
      <p:sp>
        <p:nvSpPr>
          <p:cNvPr id="27" name="Shape 25"/>
          <p:cNvSpPr/>
          <p:nvPr/>
        </p:nvSpPr>
        <p:spPr>
          <a:xfrm>
            <a:off x="548640" y="5029200"/>
            <a:ext cx="7040880" cy="1005840"/>
          </a:xfrm>
          <a:prstGeom prst="roundRect">
            <a:avLst>
              <a:gd name="adj" fmla="val 7273"/>
            </a:avLst>
          </a:prstGeom>
          <a:solidFill>
            <a:srgbClr val="EEF3FA"/>
          </a:solidFill>
          <a:ln w="12700">
            <a:solidFill>
              <a:srgbClr val="DFE3E8"/>
            </a:solidFill>
            <a:prstDash val="solid"/>
          </a:ln>
        </p:spPr>
      </p:sp>
      <p:sp>
        <p:nvSpPr>
          <p:cNvPr id="28" name="Text 26"/>
          <p:cNvSpPr txBox="1"/>
          <p:nvPr/>
        </p:nvSpPr>
        <p:spPr>
          <a:xfrm>
            <a:off x="822960" y="5166360"/>
            <a:ext cx="6492240" cy="292608"/>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Verified with no network</a:t>
            </a:r>
            <a:endParaRPr lang="en-US" sz="1450" dirty="0"/>
          </a:p>
        </p:txBody>
      </p:sp>
      <p:sp>
        <p:nvSpPr>
          <p:cNvPr id="29" name="Text 27"/>
          <p:cNvSpPr txBox="1"/>
          <p:nvPr/>
        </p:nvSpPr>
        <p:spPr>
          <a:xfrm>
            <a:off x="822960" y="5458968"/>
            <a:ext cx="6492240" cy="502920"/>
          </a:xfrm>
          <a:prstGeom prst="rect">
            <a:avLst/>
          </a:prstGeom>
          <a:noFill/>
          <a:ln/>
        </p:spPr>
        <p:txBody>
          <a:bodyPr wrap="square" lIns="0" tIns="0" rIns="0" bIns="0" rtlCol="0" anchor="ctr"/>
          <a:lstStyle/>
          <a:p>
            <a:pPr indent="0" marL="0">
              <a:lnSpc>
                <a:spcPct val="110000"/>
              </a:lnSpc>
              <a:buNone/>
            </a:pPr>
            <a:r>
              <a:rPr lang="en-US" sz="1200" dirty="0">
                <a:solidFill>
                  <a:srgbClr val="5B6672"/>
                </a:solidFill>
                <a:latin typeface="Calibri" pitchFamily="34" charset="0"/>
                <a:ea typeface="Calibri" pitchFamily="34" charset="-122"/>
                <a:cs typeface="Calibri" pitchFamily="34" charset="-120"/>
              </a:rPr>
              <a:t>docker run --network none still returns all 140 chunks</a:t>
            </a:r>
            <a:endParaRPr lang="en-US" sz="1200" dirty="0"/>
          </a:p>
        </p:txBody>
      </p:sp>
      <p:sp>
        <p:nvSpPr>
          <p:cNvPr id="30" name="Shape 28"/>
          <p:cNvSpPr/>
          <p:nvPr/>
        </p:nvSpPr>
        <p:spPr>
          <a:xfrm>
            <a:off x="7955280" y="2743200"/>
            <a:ext cx="3657600" cy="3063240"/>
          </a:xfrm>
          <a:prstGeom prst="roundRect">
            <a:avLst>
              <a:gd name="adj" fmla="val 2388"/>
            </a:avLst>
          </a:prstGeom>
          <a:solidFill>
            <a:srgbClr val="1E2761"/>
          </a:solidFill>
          <a:ln w="12700">
            <a:solidFill>
              <a:srgbClr val="1E2761"/>
            </a:solidFill>
            <a:prstDash val="solid"/>
          </a:ln>
        </p:spPr>
      </p:sp>
      <p:sp>
        <p:nvSpPr>
          <p:cNvPr id="31" name="Text 29"/>
          <p:cNvSpPr txBox="1"/>
          <p:nvPr/>
        </p:nvSpPr>
        <p:spPr>
          <a:xfrm>
            <a:off x="8183880" y="2926080"/>
            <a:ext cx="32004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Live</a:t>
            </a:r>
            <a:endParaRPr lang="en-US" sz="1300" dirty="0"/>
          </a:p>
        </p:txBody>
      </p:sp>
      <p:sp>
        <p:nvSpPr>
          <p:cNvPr id="32" name="Text 30"/>
          <p:cNvSpPr txBox="1"/>
          <p:nvPr/>
        </p:nvSpPr>
        <p:spPr>
          <a:xfrm>
            <a:off x="8183880" y="3246120"/>
            <a:ext cx="320040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northwind-hr-agent-fyp7</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.onrender.com</a:t>
            </a:r>
            <a:endParaRPr lang="en-US" sz="1350" dirty="0"/>
          </a:p>
        </p:txBody>
      </p:sp>
      <p:sp>
        <p:nvSpPr>
          <p:cNvPr id="33" name="Text 31"/>
          <p:cNvSpPr txBox="1"/>
          <p:nvPr/>
        </p:nvSpPr>
        <p:spPr>
          <a:xfrm>
            <a:off x="8183880" y="3977640"/>
            <a:ext cx="3200400" cy="1737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Platform</a:t>
            </a:r>
            <a:endParaRPr lang="en-US" sz="1050" dirty="0"/>
          </a:p>
        </p:txBody>
      </p:sp>
      <p:sp>
        <p:nvSpPr>
          <p:cNvPr id="34" name="Text 32"/>
          <p:cNvSpPr txBox="1"/>
          <p:nvPr/>
        </p:nvSpPr>
        <p:spPr>
          <a:xfrm>
            <a:off x="8183880" y="4160520"/>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Render · Docker</a:t>
            </a:r>
            <a:endParaRPr lang="en-US" sz="1200" dirty="0"/>
          </a:p>
        </p:txBody>
      </p:sp>
      <p:sp>
        <p:nvSpPr>
          <p:cNvPr id="35" name="Text 33"/>
          <p:cNvSpPr txBox="1"/>
          <p:nvPr/>
        </p:nvSpPr>
        <p:spPr>
          <a:xfrm>
            <a:off x="8183880" y="4434840"/>
            <a:ext cx="3200400" cy="1737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Health check</a:t>
            </a:r>
            <a:endParaRPr lang="en-US" sz="1050" dirty="0"/>
          </a:p>
        </p:txBody>
      </p:sp>
      <p:sp>
        <p:nvSpPr>
          <p:cNvPr id="36" name="Text 34"/>
          <p:cNvSpPr txBox="1"/>
          <p:nvPr/>
        </p:nvSpPr>
        <p:spPr>
          <a:xfrm>
            <a:off x="8183880" y="4617720"/>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/health → 503 when degraded</a:t>
            </a:r>
            <a:endParaRPr lang="en-US" sz="1200" dirty="0"/>
          </a:p>
        </p:txBody>
      </p:sp>
      <p:sp>
        <p:nvSpPr>
          <p:cNvPr id="37" name="Text 35"/>
          <p:cNvSpPr txBox="1"/>
          <p:nvPr/>
        </p:nvSpPr>
        <p:spPr>
          <a:xfrm>
            <a:off x="8183880" y="4892040"/>
            <a:ext cx="3200400" cy="1737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Image</a:t>
            </a:r>
            <a:endParaRPr lang="en-US" sz="1050" dirty="0"/>
          </a:p>
        </p:txBody>
      </p:sp>
      <p:sp>
        <p:nvSpPr>
          <p:cNvPr id="38" name="Text 36"/>
          <p:cNvSpPr txBox="1"/>
          <p:nvPr/>
        </p:nvSpPr>
        <p:spPr>
          <a:xfrm>
            <a:off x="8183880" y="5074920"/>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python:3.12-slim, 1.12 GB</a:t>
            </a:r>
            <a:endParaRPr lang="en-US" sz="1200" dirty="0"/>
          </a:p>
        </p:txBody>
      </p:sp>
      <p:sp>
        <p:nvSpPr>
          <p:cNvPr id="39" name="Text 37"/>
          <p:cNvSpPr txBox="1"/>
          <p:nvPr/>
        </p:nvSpPr>
        <p:spPr>
          <a:xfrm>
            <a:off x="8183880" y="5349240"/>
            <a:ext cx="3200400" cy="1737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Tests</a:t>
            </a:r>
            <a:endParaRPr lang="en-US" sz="1050" dirty="0"/>
          </a:p>
        </p:txBody>
      </p:sp>
      <p:sp>
        <p:nvSpPr>
          <p:cNvPr id="40" name="Text 38"/>
          <p:cNvSpPr txBox="1"/>
          <p:nvPr/>
        </p:nvSpPr>
        <p:spPr>
          <a:xfrm>
            <a:off x="8183880" y="5532120"/>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140, no API key required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 would not claim</a:t>
            </a:r>
            <a:endParaRPr lang="en-US" sz="3400" dirty="0"/>
          </a:p>
        </p:txBody>
      </p:sp>
      <p:sp>
        <p:nvSpPr>
          <p:cNvPr id="3" name="Text 1"/>
          <p:cNvSpPr txBox="1"/>
          <p:nvPr/>
        </p:nvSpPr>
        <p:spPr>
          <a:xfrm>
            <a:off x="822960" y="1691640"/>
            <a:ext cx="10424160" cy="292608"/>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Groundedness is a lower bound</a:t>
            </a:r>
            <a:endParaRPr lang="en-US" sz="1600" dirty="0"/>
          </a:p>
        </p:txBody>
      </p:sp>
      <p:sp>
        <p:nvSpPr>
          <p:cNvPr id="4" name="Text 2"/>
          <p:cNvSpPr txBox="1"/>
          <p:nvPr/>
        </p:nvSpPr>
        <p:spPr>
          <a:xfrm>
            <a:off x="822960" y="1993392"/>
            <a:ext cx="1042416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It detects citations that were never retrieved. It cannot detect an uncited false claim.</a:t>
            </a:r>
            <a:endParaRPr lang="en-US" sz="1350" dirty="0"/>
          </a:p>
        </p:txBody>
      </p:sp>
      <p:sp>
        <p:nvSpPr>
          <p:cNvPr id="5" name="Text 3"/>
          <p:cNvSpPr txBox="1"/>
          <p:nvPr/>
        </p:nvSpPr>
        <p:spPr>
          <a:xfrm>
            <a:off x="822960" y="2606040"/>
            <a:ext cx="10424160" cy="292608"/>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Scoring is string matching</a:t>
            </a:r>
            <a:endParaRPr lang="en-US" sz="1600" dirty="0"/>
          </a:p>
        </p:txBody>
      </p:sp>
      <p:sp>
        <p:nvSpPr>
          <p:cNvPr id="6" name="Text 4"/>
          <p:cNvSpPr txBox="1"/>
          <p:nvPr/>
        </p:nvSpPr>
        <p:spPr>
          <a:xfrm>
            <a:off x="822960" y="2907792"/>
            <a:ext cx="1042416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Not a human rater, and not an LLM judge. “Workflow completion” means the required facts appear in the text.</a:t>
            </a:r>
            <a:endParaRPr lang="en-US" sz="1350" dirty="0"/>
          </a:p>
        </p:txBody>
      </p:sp>
      <p:sp>
        <p:nvSpPr>
          <p:cNvPr id="7" name="Text 5"/>
          <p:cNvSpPr txBox="1"/>
          <p:nvPr/>
        </p:nvSpPr>
        <p:spPr>
          <a:xfrm>
            <a:off x="822960" y="3520440"/>
            <a:ext cx="10424160" cy="292608"/>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n = 30, one run per configuration</a:t>
            </a:r>
            <a:endParaRPr lang="en-US" sz="1600" dirty="0"/>
          </a:p>
        </p:txBody>
      </p:sp>
      <p:sp>
        <p:nvSpPr>
          <p:cNvPr id="8" name="Text 6"/>
          <p:cNvSpPr txBox="1"/>
          <p:nvPr/>
        </p:nvSpPr>
        <p:spPr>
          <a:xfrm>
            <a:off x="822960" y="3822192"/>
            <a:ext cx="1042416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Two identical configurations scored 93.3% and 86.7% — a ~7 point noise floor. Smaller differences are not results.</a:t>
            </a:r>
            <a:endParaRPr lang="en-US" sz="1350" dirty="0"/>
          </a:p>
        </p:txBody>
      </p:sp>
      <p:sp>
        <p:nvSpPr>
          <p:cNvPr id="9" name="Text 7"/>
          <p:cNvSpPr txBox="1"/>
          <p:nvPr/>
        </p:nvSpPr>
        <p:spPr>
          <a:xfrm>
            <a:off x="822960" y="4434840"/>
            <a:ext cx="10424160" cy="292608"/>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The corpus is synthetic</a:t>
            </a:r>
            <a:endParaRPr lang="en-US" sz="1600" dirty="0"/>
          </a:p>
        </p:txBody>
      </p:sp>
      <p:sp>
        <p:nvSpPr>
          <p:cNvPr id="10" name="Text 8"/>
          <p:cNvSpPr txBox="1"/>
          <p:nvPr/>
        </p:nvSpPr>
        <p:spPr>
          <a:xfrm>
            <a:off x="822960" y="4736592"/>
            <a:ext cx="1042416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Internally consistent by construction. Real HR corpora contradict themselves; retrieval here is easier than production.</a:t>
            </a:r>
            <a:endParaRPr lang="en-US" sz="1350" dirty="0"/>
          </a:p>
        </p:txBody>
      </p:sp>
      <p:sp>
        <p:nvSpPr>
          <p:cNvPr id="11" name="Shape 9"/>
          <p:cNvSpPr/>
          <p:nvPr/>
        </p:nvSpPr>
        <p:spPr>
          <a:xfrm>
            <a:off x="822960" y="5532120"/>
            <a:ext cx="10561320" cy="0"/>
          </a:xfrm>
          <a:prstGeom prst="line">
            <a:avLst/>
          </a:prstGeom>
          <a:noFill/>
          <a:ln w="12700">
            <a:solidFill>
              <a:srgbClr val="2C3A7A"/>
            </a:solidFill>
            <a:prstDash val="solid"/>
          </a:ln>
        </p:spPr>
      </p:sp>
      <p:sp>
        <p:nvSpPr>
          <p:cNvPr id="12" name="Text 10"/>
          <p:cNvSpPr txBox="1"/>
          <p:nvPr/>
        </p:nvSpPr>
        <p:spPr>
          <a:xfrm>
            <a:off x="822960" y="5760720"/>
            <a:ext cx="5943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github.com/Mhmoud-Zidan/hr-agentic-rag</a:t>
            </a:r>
            <a:endParaRPr lang="en-US" sz="1400" dirty="0"/>
          </a:p>
        </p:txBody>
      </p:sp>
      <p:sp>
        <p:nvSpPr>
          <p:cNvPr id="13" name="Text 11"/>
          <p:cNvSpPr txBox="1"/>
          <p:nvPr/>
        </p:nvSpPr>
        <p:spPr>
          <a:xfrm>
            <a:off x="6949440" y="5760720"/>
            <a:ext cx="4480560" cy="320040"/>
          </a:xfrm>
          <a:prstGeom prst="rect">
            <a:avLst/>
          </a:prstGeom>
          <a:noFill/>
          <a:ln/>
        </p:spPr>
        <p:txBody>
          <a:bodyPr wrap="square" lIns="0" tIns="0" rIns="0" bIns="0" rtlCol="0" anchor="ctr"/>
          <a:lstStyle/>
          <a:p>
            <a:pPr algn="r" indent="0" marL="0">
              <a:buNone/>
            </a:pPr>
            <a:r>
              <a:rPr lang="en-US" sz="1400" b="1" dirty="0">
                <a:solidFill>
                  <a:srgbClr val="CADCFC"/>
                </a:solidFill>
                <a:latin typeface="Calibri" pitchFamily="34" charset="0"/>
                <a:ea typeface="Calibri" pitchFamily="34" charset="-122"/>
                <a:cs typeface="Calibri" pitchFamily="34" charset="-120"/>
              </a:rPr>
              <a:t>northwind-hr-agent-fyp7.onrender.com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Northwind HR Agentic RAG</dc:title>
  <dc:subject>PptxGenJS Presentation</dc:subject>
  <dc:creator>Mahmoud Zidan</dc:creator>
  <cp:lastModifiedBy>Mahmoud Zidan</cp:lastModifiedBy>
  <cp:revision>1</cp:revision>
  <dcterms:created xsi:type="dcterms:W3CDTF">2026-09-20T19:04:28Z</dcterms:created>
  <dcterms:modified xsi:type="dcterms:W3CDTF">2026-09-20T19:04:28Z</dcterms:modified>
</cp:coreProperties>
</file>